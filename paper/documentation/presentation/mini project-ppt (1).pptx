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7" r:id="rId2"/>
    <p:sldId id="258" r:id="rId3"/>
    <p:sldId id="259" r:id="rId4"/>
    <p:sldId id="260" r:id="rId5"/>
    <p:sldId id="262" r:id="rId6"/>
    <p:sldId id="263" r:id="rId7"/>
    <p:sldId id="264" r:id="rId8"/>
    <p:sldId id="272" r:id="rId9"/>
    <p:sldId id="271" r:id="rId10"/>
    <p:sldId id="274" r:id="rId11"/>
    <p:sldId id="275" r:id="rId12"/>
    <p:sldId id="276" r:id="rId13"/>
    <p:sldId id="277" r:id="rId14"/>
    <p:sldId id="281" r:id="rId15"/>
    <p:sldId id="280" r:id="rId16"/>
    <p:sldId id="278" r:id="rId17"/>
    <p:sldId id="28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p:scale>
          <a:sx n="66" d="100"/>
          <a:sy n="66" d="100"/>
        </p:scale>
        <p:origin x="4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Sreelakshmi" userId="ff222268bcbcded2" providerId="LiveId" clId="{5165DE5A-7251-494A-A0AC-261BCC903C00}"/>
    <pc:docChg chg="undo custSel addSld delSld modSld sldOrd">
      <pc:chgData name="M Sreelakshmi" userId="ff222268bcbcded2" providerId="LiveId" clId="{5165DE5A-7251-494A-A0AC-261BCC903C00}" dt="2023-10-27T03:34:59.557" v="417" actId="2696"/>
      <pc:docMkLst>
        <pc:docMk/>
      </pc:docMkLst>
      <pc:sldChg chg="modSp mod">
        <pc:chgData name="M Sreelakshmi" userId="ff222268bcbcded2" providerId="LiveId" clId="{5165DE5A-7251-494A-A0AC-261BCC903C00}" dt="2023-10-27T02:48:51.323" v="36" actId="20577"/>
        <pc:sldMkLst>
          <pc:docMk/>
          <pc:sldMk cId="3357119447" sldId="257"/>
        </pc:sldMkLst>
        <pc:spChg chg="mod">
          <ac:chgData name="M Sreelakshmi" userId="ff222268bcbcded2" providerId="LiveId" clId="{5165DE5A-7251-494A-A0AC-261BCC903C00}" dt="2023-10-27T02:48:51.323" v="36" actId="20577"/>
          <ac:spMkLst>
            <pc:docMk/>
            <pc:sldMk cId="3357119447" sldId="257"/>
            <ac:spMk id="3" creationId="{E60F1F16-7570-3DA6-1C55-D0DEB8CB3FC4}"/>
          </ac:spMkLst>
        </pc:spChg>
      </pc:sldChg>
      <pc:sldChg chg="modSp mod">
        <pc:chgData name="M Sreelakshmi" userId="ff222268bcbcded2" providerId="LiveId" clId="{5165DE5A-7251-494A-A0AC-261BCC903C00}" dt="2023-10-27T03:04:09.601" v="98" actId="1076"/>
        <pc:sldMkLst>
          <pc:docMk/>
          <pc:sldMk cId="1785040842" sldId="258"/>
        </pc:sldMkLst>
        <pc:spChg chg="mod">
          <ac:chgData name="M Sreelakshmi" userId="ff222268bcbcded2" providerId="LiveId" clId="{5165DE5A-7251-494A-A0AC-261BCC903C00}" dt="2023-10-27T03:04:09.601" v="98" actId="1076"/>
          <ac:spMkLst>
            <pc:docMk/>
            <pc:sldMk cId="1785040842" sldId="258"/>
            <ac:spMk id="3" creationId="{C66D8A1B-C9C3-943D-C980-0C5D83BC49F1}"/>
          </ac:spMkLst>
        </pc:spChg>
      </pc:sldChg>
      <pc:sldChg chg="del">
        <pc:chgData name="M Sreelakshmi" userId="ff222268bcbcded2" providerId="LiveId" clId="{5165DE5A-7251-494A-A0AC-261BCC903C00}" dt="2023-10-27T03:34:59.557" v="417" actId="2696"/>
        <pc:sldMkLst>
          <pc:docMk/>
          <pc:sldMk cId="963717515" sldId="267"/>
        </pc:sldMkLst>
      </pc:sldChg>
      <pc:sldChg chg="delSp modSp new mod">
        <pc:chgData name="M Sreelakshmi" userId="ff222268bcbcded2" providerId="LiveId" clId="{5165DE5A-7251-494A-A0AC-261BCC903C00}" dt="2023-10-27T03:08:27.351" v="149" actId="1076"/>
        <pc:sldMkLst>
          <pc:docMk/>
          <pc:sldMk cId="4216036166" sldId="274"/>
        </pc:sldMkLst>
        <pc:spChg chg="mod">
          <ac:chgData name="M Sreelakshmi" userId="ff222268bcbcded2" providerId="LiveId" clId="{5165DE5A-7251-494A-A0AC-261BCC903C00}" dt="2023-10-27T03:03:39.765" v="96" actId="1076"/>
          <ac:spMkLst>
            <pc:docMk/>
            <pc:sldMk cId="4216036166" sldId="274"/>
            <ac:spMk id="2" creationId="{B648D0C5-CD2F-DEB2-4181-6BEEDE8E997C}"/>
          </ac:spMkLst>
        </pc:spChg>
        <pc:spChg chg="mod">
          <ac:chgData name="M Sreelakshmi" userId="ff222268bcbcded2" providerId="LiveId" clId="{5165DE5A-7251-494A-A0AC-261BCC903C00}" dt="2023-10-27T03:08:27.351" v="149" actId="1076"/>
          <ac:spMkLst>
            <pc:docMk/>
            <pc:sldMk cId="4216036166" sldId="274"/>
            <ac:spMk id="3" creationId="{C489405C-E19F-CDBB-1005-F7F8E71BD973}"/>
          </ac:spMkLst>
        </pc:spChg>
        <pc:spChg chg="del">
          <ac:chgData name="M Sreelakshmi" userId="ff222268bcbcded2" providerId="LiveId" clId="{5165DE5A-7251-494A-A0AC-261BCC903C00}" dt="2023-10-27T03:02:35.819" v="86" actId="21"/>
          <ac:spMkLst>
            <pc:docMk/>
            <pc:sldMk cId="4216036166" sldId="274"/>
            <ac:spMk id="4" creationId="{B1DD63B2-B1DB-569B-4A6D-B98CF2A867A7}"/>
          </ac:spMkLst>
        </pc:spChg>
        <pc:spChg chg="del">
          <ac:chgData name="M Sreelakshmi" userId="ff222268bcbcded2" providerId="LiveId" clId="{5165DE5A-7251-494A-A0AC-261BCC903C00}" dt="2023-10-27T03:02:40.448" v="87" actId="21"/>
          <ac:spMkLst>
            <pc:docMk/>
            <pc:sldMk cId="4216036166" sldId="274"/>
            <ac:spMk id="5" creationId="{C196A6CD-37F9-1F46-379A-D70B9614AC38}"/>
          </ac:spMkLst>
        </pc:spChg>
        <pc:spChg chg="del">
          <ac:chgData name="M Sreelakshmi" userId="ff222268bcbcded2" providerId="LiveId" clId="{5165DE5A-7251-494A-A0AC-261BCC903C00}" dt="2023-10-27T03:02:44.982" v="88" actId="21"/>
          <ac:spMkLst>
            <pc:docMk/>
            <pc:sldMk cId="4216036166" sldId="274"/>
            <ac:spMk id="6" creationId="{A58AAB51-AF41-DBDD-8A4A-BB2C5CA5C555}"/>
          </ac:spMkLst>
        </pc:spChg>
      </pc:sldChg>
      <pc:sldChg chg="delSp modSp new mod">
        <pc:chgData name="M Sreelakshmi" userId="ff222268bcbcded2" providerId="LiveId" clId="{5165DE5A-7251-494A-A0AC-261BCC903C00}" dt="2023-10-27T03:08:49.995" v="151" actId="207"/>
        <pc:sldMkLst>
          <pc:docMk/>
          <pc:sldMk cId="4125765066" sldId="275"/>
        </pc:sldMkLst>
        <pc:spChg chg="mod">
          <ac:chgData name="M Sreelakshmi" userId="ff222268bcbcded2" providerId="LiveId" clId="{5165DE5A-7251-494A-A0AC-261BCC903C00}" dt="2023-10-27T03:06:40.563" v="135" actId="20577"/>
          <ac:spMkLst>
            <pc:docMk/>
            <pc:sldMk cId="4125765066" sldId="275"/>
            <ac:spMk id="2" creationId="{B4795226-726C-6961-C085-AA59167E7D32}"/>
          </ac:spMkLst>
        </pc:spChg>
        <pc:spChg chg="mod">
          <ac:chgData name="M Sreelakshmi" userId="ff222268bcbcded2" providerId="LiveId" clId="{5165DE5A-7251-494A-A0AC-261BCC903C00}" dt="2023-10-27T03:08:49.995" v="151" actId="207"/>
          <ac:spMkLst>
            <pc:docMk/>
            <pc:sldMk cId="4125765066" sldId="275"/>
            <ac:spMk id="3" creationId="{EC8D1DC8-7D03-913F-1625-D91B7EC0E91B}"/>
          </ac:spMkLst>
        </pc:spChg>
        <pc:spChg chg="del mod">
          <ac:chgData name="M Sreelakshmi" userId="ff222268bcbcded2" providerId="LiveId" clId="{5165DE5A-7251-494A-A0AC-261BCC903C00}" dt="2023-10-27T03:07:32.790" v="140" actId="21"/>
          <ac:spMkLst>
            <pc:docMk/>
            <pc:sldMk cId="4125765066" sldId="275"/>
            <ac:spMk id="4" creationId="{7835A286-271F-AC7F-DCCC-B38B882BD975}"/>
          </ac:spMkLst>
        </pc:spChg>
        <pc:spChg chg="del">
          <ac:chgData name="M Sreelakshmi" userId="ff222268bcbcded2" providerId="LiveId" clId="{5165DE5A-7251-494A-A0AC-261BCC903C00}" dt="2023-10-27T03:07:43.997" v="141" actId="21"/>
          <ac:spMkLst>
            <pc:docMk/>
            <pc:sldMk cId="4125765066" sldId="275"/>
            <ac:spMk id="5" creationId="{F460344D-9994-6AAB-995E-C498167C50E0}"/>
          </ac:spMkLst>
        </pc:spChg>
        <pc:spChg chg="del">
          <ac:chgData name="M Sreelakshmi" userId="ff222268bcbcded2" providerId="LiveId" clId="{5165DE5A-7251-494A-A0AC-261BCC903C00}" dt="2023-10-27T03:07:49.251" v="142" actId="21"/>
          <ac:spMkLst>
            <pc:docMk/>
            <pc:sldMk cId="4125765066" sldId="275"/>
            <ac:spMk id="6" creationId="{86726987-A3F1-CD11-8BC6-7C23DD6994EA}"/>
          </ac:spMkLst>
        </pc:spChg>
      </pc:sldChg>
      <pc:sldChg chg="delSp modSp new mod">
        <pc:chgData name="M Sreelakshmi" userId="ff222268bcbcded2" providerId="LiveId" clId="{5165DE5A-7251-494A-A0AC-261BCC903C00}" dt="2023-10-27T03:16:47.155" v="184" actId="1076"/>
        <pc:sldMkLst>
          <pc:docMk/>
          <pc:sldMk cId="872265170" sldId="276"/>
        </pc:sldMkLst>
        <pc:spChg chg="mod">
          <ac:chgData name="M Sreelakshmi" userId="ff222268bcbcded2" providerId="LiveId" clId="{5165DE5A-7251-494A-A0AC-261BCC903C00}" dt="2023-10-27T03:15:33.758" v="172" actId="20577"/>
          <ac:spMkLst>
            <pc:docMk/>
            <pc:sldMk cId="872265170" sldId="276"/>
            <ac:spMk id="2" creationId="{7365BCB3-F28E-56C9-2228-F056A2E9E090}"/>
          </ac:spMkLst>
        </pc:spChg>
        <pc:spChg chg="mod">
          <ac:chgData name="M Sreelakshmi" userId="ff222268bcbcded2" providerId="LiveId" clId="{5165DE5A-7251-494A-A0AC-261BCC903C00}" dt="2023-10-27T03:16:47.155" v="184" actId="1076"/>
          <ac:spMkLst>
            <pc:docMk/>
            <pc:sldMk cId="872265170" sldId="276"/>
            <ac:spMk id="3" creationId="{411A9551-86D4-A48E-0CAE-E4BFD314F54C}"/>
          </ac:spMkLst>
        </pc:spChg>
        <pc:spChg chg="del">
          <ac:chgData name="M Sreelakshmi" userId="ff222268bcbcded2" providerId="LiveId" clId="{5165DE5A-7251-494A-A0AC-261BCC903C00}" dt="2023-10-27T03:16:13.562" v="177" actId="21"/>
          <ac:spMkLst>
            <pc:docMk/>
            <pc:sldMk cId="872265170" sldId="276"/>
            <ac:spMk id="4" creationId="{E014C128-62CE-BE86-CA76-0BB05D045A6A}"/>
          </ac:spMkLst>
        </pc:spChg>
        <pc:spChg chg="del">
          <ac:chgData name="M Sreelakshmi" userId="ff222268bcbcded2" providerId="LiveId" clId="{5165DE5A-7251-494A-A0AC-261BCC903C00}" dt="2023-10-27T03:16:22.075" v="178" actId="21"/>
          <ac:spMkLst>
            <pc:docMk/>
            <pc:sldMk cId="872265170" sldId="276"/>
            <ac:spMk id="5" creationId="{6A0F08D7-AE2A-CCC8-0339-C77D4639AA7C}"/>
          </ac:spMkLst>
        </pc:spChg>
        <pc:spChg chg="del">
          <ac:chgData name="M Sreelakshmi" userId="ff222268bcbcded2" providerId="LiveId" clId="{5165DE5A-7251-494A-A0AC-261BCC903C00}" dt="2023-10-27T03:16:28.099" v="179" actId="21"/>
          <ac:spMkLst>
            <pc:docMk/>
            <pc:sldMk cId="872265170" sldId="276"/>
            <ac:spMk id="6" creationId="{43575F19-90A7-99BB-E367-F649FFB51EDD}"/>
          </ac:spMkLst>
        </pc:spChg>
      </pc:sldChg>
      <pc:sldChg chg="delSp modSp new mod">
        <pc:chgData name="M Sreelakshmi" userId="ff222268bcbcded2" providerId="LiveId" clId="{5165DE5A-7251-494A-A0AC-261BCC903C00}" dt="2023-10-27T03:21:40.662" v="286" actId="113"/>
        <pc:sldMkLst>
          <pc:docMk/>
          <pc:sldMk cId="1792179769" sldId="277"/>
        </pc:sldMkLst>
        <pc:spChg chg="mod">
          <ac:chgData name="M Sreelakshmi" userId="ff222268bcbcded2" providerId="LiveId" clId="{5165DE5A-7251-494A-A0AC-261BCC903C00}" dt="2023-10-27T03:17:23.273" v="205" actId="20577"/>
          <ac:spMkLst>
            <pc:docMk/>
            <pc:sldMk cId="1792179769" sldId="277"/>
            <ac:spMk id="2" creationId="{F2EDF0E1-3999-55E8-C1A2-750F6AAF09DE}"/>
          </ac:spMkLst>
        </pc:spChg>
        <pc:spChg chg="mod">
          <ac:chgData name="M Sreelakshmi" userId="ff222268bcbcded2" providerId="LiveId" clId="{5165DE5A-7251-494A-A0AC-261BCC903C00}" dt="2023-10-27T03:21:40.662" v="286" actId="113"/>
          <ac:spMkLst>
            <pc:docMk/>
            <pc:sldMk cId="1792179769" sldId="277"/>
            <ac:spMk id="3" creationId="{CE3A9E02-551C-8C7E-A0C4-0AE01F43D239}"/>
          </ac:spMkLst>
        </pc:spChg>
        <pc:spChg chg="del">
          <ac:chgData name="M Sreelakshmi" userId="ff222268bcbcded2" providerId="LiveId" clId="{5165DE5A-7251-494A-A0AC-261BCC903C00}" dt="2023-10-27T03:19:12.204" v="216" actId="21"/>
          <ac:spMkLst>
            <pc:docMk/>
            <pc:sldMk cId="1792179769" sldId="277"/>
            <ac:spMk id="4" creationId="{26A4C4E9-17F8-5BC0-3889-B044C8E99242}"/>
          </ac:spMkLst>
        </pc:spChg>
        <pc:spChg chg="del">
          <ac:chgData name="M Sreelakshmi" userId="ff222268bcbcded2" providerId="LiveId" clId="{5165DE5A-7251-494A-A0AC-261BCC903C00}" dt="2023-10-27T03:18:58.346" v="214" actId="21"/>
          <ac:spMkLst>
            <pc:docMk/>
            <pc:sldMk cId="1792179769" sldId="277"/>
            <ac:spMk id="5" creationId="{0232EB84-61B1-400E-9ECE-C1B79AFF6902}"/>
          </ac:spMkLst>
        </pc:spChg>
        <pc:spChg chg="del">
          <ac:chgData name="M Sreelakshmi" userId="ff222268bcbcded2" providerId="LiveId" clId="{5165DE5A-7251-494A-A0AC-261BCC903C00}" dt="2023-10-27T03:19:05.771" v="215" actId="21"/>
          <ac:spMkLst>
            <pc:docMk/>
            <pc:sldMk cId="1792179769" sldId="277"/>
            <ac:spMk id="6" creationId="{1BE1E314-1C9C-D924-435D-ECDD281A56F1}"/>
          </ac:spMkLst>
        </pc:spChg>
      </pc:sldChg>
      <pc:sldChg chg="addSp delSp modSp new mod ord">
        <pc:chgData name="M Sreelakshmi" userId="ff222268bcbcded2" providerId="LiveId" clId="{5165DE5A-7251-494A-A0AC-261BCC903C00}" dt="2023-10-27T03:32:15.833" v="379" actId="113"/>
        <pc:sldMkLst>
          <pc:docMk/>
          <pc:sldMk cId="121403049" sldId="278"/>
        </pc:sldMkLst>
        <pc:spChg chg="mod">
          <ac:chgData name="M Sreelakshmi" userId="ff222268bcbcded2" providerId="LiveId" clId="{5165DE5A-7251-494A-A0AC-261BCC903C00}" dt="2023-10-27T03:30:38.773" v="361" actId="20577"/>
          <ac:spMkLst>
            <pc:docMk/>
            <pc:sldMk cId="121403049" sldId="278"/>
            <ac:spMk id="2" creationId="{1677E180-360B-6981-C662-09AE71394F21}"/>
          </ac:spMkLst>
        </pc:spChg>
        <pc:spChg chg="mod">
          <ac:chgData name="M Sreelakshmi" userId="ff222268bcbcded2" providerId="LiveId" clId="{5165DE5A-7251-494A-A0AC-261BCC903C00}" dt="2023-10-27T03:32:15.833" v="379" actId="113"/>
          <ac:spMkLst>
            <pc:docMk/>
            <pc:sldMk cId="121403049" sldId="278"/>
            <ac:spMk id="3" creationId="{F1A44FDF-B844-9ED1-65E7-8C32D0DD8321}"/>
          </ac:spMkLst>
        </pc:spChg>
        <pc:spChg chg="del">
          <ac:chgData name="M Sreelakshmi" userId="ff222268bcbcded2" providerId="LiveId" clId="{5165DE5A-7251-494A-A0AC-261BCC903C00}" dt="2023-10-27T03:31:09.983" v="365" actId="21"/>
          <ac:spMkLst>
            <pc:docMk/>
            <pc:sldMk cId="121403049" sldId="278"/>
            <ac:spMk id="4" creationId="{90AE4083-F307-63F5-A326-AEECC8A3911E}"/>
          </ac:spMkLst>
        </pc:spChg>
        <pc:spChg chg="del">
          <ac:chgData name="M Sreelakshmi" userId="ff222268bcbcded2" providerId="LiveId" clId="{5165DE5A-7251-494A-A0AC-261BCC903C00}" dt="2023-10-27T03:31:18.487" v="366" actId="21"/>
          <ac:spMkLst>
            <pc:docMk/>
            <pc:sldMk cId="121403049" sldId="278"/>
            <ac:spMk id="5" creationId="{BA36170C-7F9A-7CBA-1A40-E2E91F75440D}"/>
          </ac:spMkLst>
        </pc:spChg>
        <pc:spChg chg="del">
          <ac:chgData name="M Sreelakshmi" userId="ff222268bcbcded2" providerId="LiveId" clId="{5165DE5A-7251-494A-A0AC-261BCC903C00}" dt="2023-10-27T03:31:24.667" v="367" actId="21"/>
          <ac:spMkLst>
            <pc:docMk/>
            <pc:sldMk cId="121403049" sldId="278"/>
            <ac:spMk id="6" creationId="{7D7DCF57-88B0-BEB3-FFCD-FA5DEB726436}"/>
          </ac:spMkLst>
        </pc:spChg>
        <pc:spChg chg="add del mod">
          <ac:chgData name="M Sreelakshmi" userId="ff222268bcbcded2" providerId="LiveId" clId="{5165DE5A-7251-494A-A0AC-261BCC903C00}" dt="2023-10-27T03:22:33.680" v="291"/>
          <ac:spMkLst>
            <pc:docMk/>
            <pc:sldMk cId="121403049" sldId="278"/>
            <ac:spMk id="8" creationId="{E679588E-F02B-654B-14A6-661D5366F470}"/>
          </ac:spMkLst>
        </pc:spChg>
        <pc:picChg chg="add del mod">
          <ac:chgData name="M Sreelakshmi" userId="ff222268bcbcded2" providerId="LiveId" clId="{5165DE5A-7251-494A-A0AC-261BCC903C00}" dt="2023-10-27T03:29:21.704" v="340" actId="21"/>
          <ac:picMkLst>
            <pc:docMk/>
            <pc:sldMk cId="121403049" sldId="278"/>
            <ac:picMk id="10" creationId="{5FEC30F2-B067-0DE2-CE19-F0D9F017ACF8}"/>
          </ac:picMkLst>
        </pc:picChg>
        <pc:picChg chg="add del mod">
          <ac:chgData name="M Sreelakshmi" userId="ff222268bcbcded2" providerId="LiveId" clId="{5165DE5A-7251-494A-A0AC-261BCC903C00}" dt="2023-10-27T03:26:02.332" v="311" actId="21"/>
          <ac:picMkLst>
            <pc:docMk/>
            <pc:sldMk cId="121403049" sldId="278"/>
            <ac:picMk id="12" creationId="{0E81E9A6-3B2F-E8BC-AAE7-60B37E3E0838}"/>
          </ac:picMkLst>
        </pc:picChg>
      </pc:sldChg>
      <pc:sldChg chg="addSp delSp modSp new del mod">
        <pc:chgData name="M Sreelakshmi" userId="ff222268bcbcded2" providerId="LiveId" clId="{5165DE5A-7251-494A-A0AC-261BCC903C00}" dt="2023-10-27T03:28:50.658" v="336" actId="2696"/>
        <pc:sldMkLst>
          <pc:docMk/>
          <pc:sldMk cId="879388428" sldId="279"/>
        </pc:sldMkLst>
        <pc:spChg chg="mod">
          <ac:chgData name="M Sreelakshmi" userId="ff222268bcbcded2" providerId="LiveId" clId="{5165DE5A-7251-494A-A0AC-261BCC903C00}" dt="2023-10-27T03:26:08.974" v="313" actId="113"/>
          <ac:spMkLst>
            <pc:docMk/>
            <pc:sldMk cId="879388428" sldId="279"/>
            <ac:spMk id="3" creationId="{B3AE9F59-09DB-E664-B81E-F43947D3FC01}"/>
          </ac:spMkLst>
        </pc:spChg>
        <pc:spChg chg="del">
          <ac:chgData name="M Sreelakshmi" userId="ff222268bcbcded2" providerId="LiveId" clId="{5165DE5A-7251-494A-A0AC-261BCC903C00}" dt="2023-10-27T03:27:29.522" v="327" actId="22"/>
          <ac:spMkLst>
            <pc:docMk/>
            <pc:sldMk cId="879388428" sldId="279"/>
            <ac:spMk id="6" creationId="{89EF4BA3-E566-7CB4-68C1-2E51F5DB2C30}"/>
          </ac:spMkLst>
        </pc:spChg>
        <pc:spChg chg="add mod">
          <ac:chgData name="M Sreelakshmi" userId="ff222268bcbcded2" providerId="LiveId" clId="{5165DE5A-7251-494A-A0AC-261BCC903C00}" dt="2023-10-27T03:28:36.668" v="334" actId="21"/>
          <ac:spMkLst>
            <pc:docMk/>
            <pc:sldMk cId="879388428" sldId="279"/>
            <ac:spMk id="11" creationId="{120F726A-95D7-F5FE-2BC7-CF24FE614FD4}"/>
          </ac:spMkLst>
        </pc:spChg>
        <pc:picChg chg="add del mod">
          <ac:chgData name="M Sreelakshmi" userId="ff222268bcbcded2" providerId="LiveId" clId="{5165DE5A-7251-494A-A0AC-261BCC903C00}" dt="2023-10-27T03:28:25.813" v="332" actId="21"/>
          <ac:picMkLst>
            <pc:docMk/>
            <pc:sldMk cId="879388428" sldId="279"/>
            <ac:picMk id="7" creationId="{378C0307-473B-09DF-3405-3ADDB4145161}"/>
          </ac:picMkLst>
        </pc:picChg>
        <pc:picChg chg="add del mod ord">
          <ac:chgData name="M Sreelakshmi" userId="ff222268bcbcded2" providerId="LiveId" clId="{5165DE5A-7251-494A-A0AC-261BCC903C00}" dt="2023-10-27T03:28:36.668" v="334" actId="21"/>
          <ac:picMkLst>
            <pc:docMk/>
            <pc:sldMk cId="879388428" sldId="279"/>
            <ac:picMk id="9" creationId="{1CE2BA65-F45C-364D-C377-6687F5E2C7DF}"/>
          </ac:picMkLst>
        </pc:picChg>
      </pc:sldChg>
      <pc:sldChg chg="addSp modSp new">
        <pc:chgData name="M Sreelakshmi" userId="ff222268bcbcded2" providerId="LiveId" clId="{5165DE5A-7251-494A-A0AC-261BCC903C00}" dt="2023-10-27T03:28:43.269" v="335"/>
        <pc:sldMkLst>
          <pc:docMk/>
          <pc:sldMk cId="4071715825" sldId="280"/>
        </pc:sldMkLst>
        <pc:picChg chg="add mod">
          <ac:chgData name="M Sreelakshmi" userId="ff222268bcbcded2" providerId="LiveId" clId="{5165DE5A-7251-494A-A0AC-261BCC903C00}" dt="2023-10-27T03:28:30.180" v="333"/>
          <ac:picMkLst>
            <pc:docMk/>
            <pc:sldMk cId="4071715825" sldId="280"/>
            <ac:picMk id="2" creationId="{09B69A07-4F5A-D93D-2328-C5AC6FA5FBE2}"/>
          </ac:picMkLst>
        </pc:picChg>
        <pc:picChg chg="add mod">
          <ac:chgData name="M Sreelakshmi" userId="ff222268bcbcded2" providerId="LiveId" clId="{5165DE5A-7251-494A-A0AC-261BCC903C00}" dt="2023-10-27T03:28:43.269" v="335"/>
          <ac:picMkLst>
            <pc:docMk/>
            <pc:sldMk cId="4071715825" sldId="280"/>
            <ac:picMk id="3" creationId="{DA040D37-132E-D848-E245-EA7917985D98}"/>
          </ac:picMkLst>
        </pc:picChg>
      </pc:sldChg>
      <pc:sldChg chg="addSp delSp modSp add mod ord">
        <pc:chgData name="M Sreelakshmi" userId="ff222268bcbcded2" providerId="LiveId" clId="{5165DE5A-7251-494A-A0AC-261BCC903C00}" dt="2023-10-27T03:29:54.645" v="348" actId="1076"/>
        <pc:sldMkLst>
          <pc:docMk/>
          <pc:sldMk cId="3451473391" sldId="281"/>
        </pc:sldMkLst>
        <pc:picChg chg="del">
          <ac:chgData name="M Sreelakshmi" userId="ff222268bcbcded2" providerId="LiveId" clId="{5165DE5A-7251-494A-A0AC-261BCC903C00}" dt="2023-10-27T03:29:11.904" v="338" actId="21"/>
          <ac:picMkLst>
            <pc:docMk/>
            <pc:sldMk cId="3451473391" sldId="281"/>
            <ac:picMk id="2" creationId="{09B69A07-4F5A-D93D-2328-C5AC6FA5FBE2}"/>
          </ac:picMkLst>
        </pc:picChg>
        <pc:picChg chg="del">
          <ac:chgData name="M Sreelakshmi" userId="ff222268bcbcded2" providerId="LiveId" clId="{5165DE5A-7251-494A-A0AC-261BCC903C00}" dt="2023-10-27T03:29:16.085" v="339" actId="21"/>
          <ac:picMkLst>
            <pc:docMk/>
            <pc:sldMk cId="3451473391" sldId="281"/>
            <ac:picMk id="3" creationId="{DA040D37-132E-D848-E245-EA7917985D98}"/>
          </ac:picMkLst>
        </pc:picChg>
        <pc:picChg chg="add mod">
          <ac:chgData name="M Sreelakshmi" userId="ff222268bcbcded2" providerId="LiveId" clId="{5165DE5A-7251-494A-A0AC-261BCC903C00}" dt="2023-10-27T03:29:54.645" v="348" actId="1076"/>
          <ac:picMkLst>
            <pc:docMk/>
            <pc:sldMk cId="3451473391" sldId="281"/>
            <ac:picMk id="4" creationId="{258E92A0-9EC1-193D-4F36-EA12087E6115}"/>
          </ac:picMkLst>
        </pc:picChg>
      </pc:sldChg>
      <pc:sldChg chg="modSp add mod">
        <pc:chgData name="M Sreelakshmi" userId="ff222268bcbcded2" providerId="LiveId" clId="{5165DE5A-7251-494A-A0AC-261BCC903C00}" dt="2023-10-27T03:34:54.716" v="416" actId="1076"/>
        <pc:sldMkLst>
          <pc:docMk/>
          <pc:sldMk cId="3239483890" sldId="282"/>
        </pc:sldMkLst>
        <pc:spChg chg="mod">
          <ac:chgData name="M Sreelakshmi" userId="ff222268bcbcded2" providerId="LiveId" clId="{5165DE5A-7251-494A-A0AC-261BCC903C00}" dt="2023-10-27T03:33:15.114" v="401" actId="20577"/>
          <ac:spMkLst>
            <pc:docMk/>
            <pc:sldMk cId="3239483890" sldId="282"/>
            <ac:spMk id="2" creationId="{1677E180-360B-6981-C662-09AE71394F21}"/>
          </ac:spMkLst>
        </pc:spChg>
        <pc:spChg chg="mod">
          <ac:chgData name="M Sreelakshmi" userId="ff222268bcbcded2" providerId="LiveId" clId="{5165DE5A-7251-494A-A0AC-261BCC903C00}" dt="2023-10-27T03:34:54.716" v="416" actId="1076"/>
          <ac:spMkLst>
            <pc:docMk/>
            <pc:sldMk cId="3239483890" sldId="282"/>
            <ac:spMk id="3" creationId="{F1A44FDF-B844-9ED1-65E7-8C32D0DD8321}"/>
          </ac:spMkLst>
        </pc:spChg>
      </pc:sldChg>
      <pc:sldChg chg="add del">
        <pc:chgData name="M Sreelakshmi" userId="ff222268bcbcded2" providerId="LiveId" clId="{5165DE5A-7251-494A-A0AC-261BCC903C00}" dt="2023-10-27T03:33:01.391" v="382" actId="2696"/>
        <pc:sldMkLst>
          <pc:docMk/>
          <pc:sldMk cId="2718825355" sldId="283"/>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4EB13AF-3447-4AA8-A6B0-9DC472E186B7}" type="datetimeFigureOut">
              <a:rPr lang="en-US" smtClean="0"/>
              <a:t>10/27/2023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604705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EB13AF-3447-4AA8-A6B0-9DC472E186B7}"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3288459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4EB13AF-3447-4AA8-A6B0-9DC472E186B7}"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07839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EB13AF-3447-4AA8-A6B0-9DC472E186B7}"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4128634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EB13AF-3447-4AA8-A6B0-9DC472E186B7}" type="datetimeFigureOut">
              <a:rPr lang="en-US" smtClean="0"/>
              <a:t>10/27/2023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244098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EB13AF-3447-4AA8-A6B0-9DC472E186B7}" type="datetimeFigureOut">
              <a:rPr lang="en-US" smtClean="0"/>
              <a:t>10/27/2023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668311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EB13AF-3447-4AA8-A6B0-9DC472E186B7}" type="datetimeFigureOut">
              <a:rPr lang="en-US" smtClean="0"/>
              <a:t>10/27/2023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651091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4EB13AF-3447-4AA8-A6B0-9DC472E186B7}"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924351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4EB13AF-3447-4AA8-A6B0-9DC472E186B7}"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842826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4EB13AF-3447-4AA8-A6B0-9DC472E186B7}" type="datetimeFigureOut">
              <a:rPr lang="en-US" smtClean="0"/>
              <a:t>10/27/2023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658207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84EB13AF-3447-4AA8-A6B0-9DC472E186B7}"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499397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84EB13AF-3447-4AA8-A6B0-9DC472E186B7}"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13429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4EB13AF-3447-4AA8-A6B0-9DC472E186B7}"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636931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4EB13AF-3447-4AA8-A6B0-9DC472E186B7}" type="datetimeFigureOut">
              <a:rPr lang="en-US" smtClean="0"/>
              <a:t>10/27/2023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226305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4EB13AF-3447-4AA8-A6B0-9DC472E186B7}" type="datetimeFigureOut">
              <a:rPr lang="en-US" smtClean="0"/>
              <a:t>10/27/2023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980676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4EB13AF-3447-4AA8-A6B0-9DC472E186B7}"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26383287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4EB13AF-3447-4AA8-A6B0-9DC472E186B7}" type="datetimeFigureOut">
              <a:rPr lang="en-US" smtClean="0"/>
              <a:t>10/27/2023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7FD9A5C-C589-47F7-9E83-8323CDC3BF30}" type="slidenum">
              <a:rPr lang="en-US" smtClean="0"/>
              <a:t>‹#›</a:t>
            </a:fld>
            <a:endParaRPr lang="en-US"/>
          </a:p>
        </p:txBody>
      </p:sp>
    </p:spTree>
    <p:extLst>
      <p:ext uri="{BB962C8B-B14F-4D97-AF65-F5344CB8AC3E}">
        <p14:creationId xmlns:p14="http://schemas.microsoft.com/office/powerpoint/2010/main" val="1417554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4EB13AF-3447-4AA8-A6B0-9DC472E186B7}" type="datetimeFigureOut">
              <a:rPr lang="en-US" smtClean="0"/>
              <a:t>10/27/2023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7FD9A5C-C589-47F7-9E83-8323CDC3BF30}" type="slidenum">
              <a:rPr lang="en-US" smtClean="0"/>
              <a:t>‹#›</a:t>
            </a:fld>
            <a:endParaRPr lang="en-US"/>
          </a:p>
        </p:txBody>
      </p:sp>
    </p:spTree>
    <p:extLst>
      <p:ext uri="{BB962C8B-B14F-4D97-AF65-F5344CB8AC3E}">
        <p14:creationId xmlns:p14="http://schemas.microsoft.com/office/powerpoint/2010/main" val="234225942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7B121-F43A-6718-F3B4-AEC1DCA22D88}"/>
              </a:ext>
            </a:extLst>
          </p:cNvPr>
          <p:cNvSpPr>
            <a:spLocks noGrp="1"/>
          </p:cNvSpPr>
          <p:nvPr>
            <p:ph type="title"/>
          </p:nvPr>
        </p:nvSpPr>
        <p:spPr>
          <a:xfrm>
            <a:off x="1228725" y="779523"/>
            <a:ext cx="10515600" cy="1325563"/>
          </a:xfrm>
        </p:spPr>
        <p:txBody>
          <a:bodyPr>
            <a:normAutofit/>
          </a:bodyPr>
          <a:lstStyle/>
          <a:p>
            <a:pPr algn="ctr"/>
            <a:r>
              <a:rPr lang="en-US" sz="2400" b="1" dirty="0">
                <a:latin typeface="Times New Roman" panose="02020603050405020304" pitchFamily="18" charset="0"/>
                <a:cs typeface="Times New Roman" panose="02020603050405020304" pitchFamily="18" charset="0"/>
              </a:rPr>
              <a:t>CONTAINER AS A SERVICE IN CLOUD:</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AN APPROACH TO SECURE HYBRID VIRTUALIZATION</a:t>
            </a:r>
          </a:p>
        </p:txBody>
      </p:sp>
      <p:sp>
        <p:nvSpPr>
          <p:cNvPr id="3" name="Content Placeholder 2">
            <a:extLst>
              <a:ext uri="{FF2B5EF4-FFF2-40B4-BE49-F238E27FC236}">
                <a16:creationId xmlns:a16="http://schemas.microsoft.com/office/drawing/2014/main" id="{E60F1F16-7570-3DA6-1C55-D0DEB8CB3FC4}"/>
              </a:ext>
            </a:extLst>
          </p:cNvPr>
          <p:cNvSpPr>
            <a:spLocks noGrp="1"/>
          </p:cNvSpPr>
          <p:nvPr>
            <p:ph idx="1"/>
          </p:nvPr>
        </p:nvSpPr>
        <p:spPr>
          <a:xfrm>
            <a:off x="1619250" y="2809814"/>
            <a:ext cx="9734550" cy="3797423"/>
          </a:xfrm>
        </p:spPr>
        <p:txBody>
          <a:bodyPr>
            <a:normAutofit fontScale="85000" lnSpcReduction="20000"/>
          </a:bodyPr>
          <a:lstStyle/>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D. Manoj               (222010302045)</a:t>
            </a:r>
          </a:p>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M. Sree Lakshmi   (222010302029)</a:t>
            </a:r>
          </a:p>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B. Akshitha           (222010302050)</a:t>
            </a:r>
          </a:p>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Y Devi Sri Priya    (222010302012) </a:t>
            </a:r>
          </a:p>
          <a:p>
            <a:pPr marL="0" indent="0" algn="ctr">
              <a:lnSpc>
                <a:spcPct val="150000"/>
              </a:lnSpc>
              <a:spcBef>
                <a:spcPts val="0"/>
              </a:spcBef>
              <a:buNone/>
            </a:pPr>
            <a:endParaRPr lang="en-US" altLang="en-US" sz="1600" dirty="0">
              <a:latin typeface="Times New Roman" panose="02020603050405020304" pitchFamily="18" charset="0"/>
              <a:cs typeface="Times New Roman" panose="02020603050405020304" pitchFamily="18" charset="0"/>
            </a:endParaRPr>
          </a:p>
          <a:p>
            <a:pPr marL="0" indent="0" algn="ctr">
              <a:lnSpc>
                <a:spcPct val="150000"/>
              </a:lnSpc>
              <a:spcBef>
                <a:spcPts val="0"/>
              </a:spcBef>
              <a:buNone/>
            </a:pPr>
            <a:endParaRPr lang="en-US" altLang="en-US" sz="1600" dirty="0">
              <a:latin typeface="Times New Roman" panose="02020603050405020304" pitchFamily="18" charset="0"/>
              <a:cs typeface="Times New Roman" panose="02020603050405020304" pitchFamily="18" charset="0"/>
            </a:endParaRPr>
          </a:p>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Under the supervision of</a:t>
            </a:r>
          </a:p>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Prof. Manoj Kumar Patra</a:t>
            </a:r>
          </a:p>
          <a:p>
            <a:pPr marL="0" indent="0" algn="ctr">
              <a:lnSpc>
                <a:spcPct val="150000"/>
              </a:lnSpc>
              <a:spcBef>
                <a:spcPts val="0"/>
              </a:spcBef>
              <a:buNone/>
            </a:pPr>
            <a:endParaRPr lang="en-US" altLang="en-US" sz="1600" dirty="0">
              <a:latin typeface="Times New Roman" panose="02020603050405020304" pitchFamily="18" charset="0"/>
              <a:cs typeface="Times New Roman" panose="02020603050405020304" pitchFamily="18" charset="0"/>
            </a:endParaRPr>
          </a:p>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Department of Computer Science &amp; Engineering</a:t>
            </a:r>
          </a:p>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GITAM(Deemed to be University), Hyderabad</a:t>
            </a:r>
          </a:p>
          <a:p>
            <a:pPr marL="0" indent="0" algn="ctr">
              <a:lnSpc>
                <a:spcPct val="150000"/>
              </a:lnSpc>
              <a:spcBef>
                <a:spcPts val="0"/>
              </a:spcBef>
              <a:buNone/>
            </a:pPr>
            <a:endParaRPr lang="en-US" altLang="en-US" sz="1600" dirty="0">
              <a:latin typeface="Times New Roman" panose="02020603050405020304" pitchFamily="18" charset="0"/>
              <a:cs typeface="Times New Roman" panose="02020603050405020304" pitchFamily="18" charset="0"/>
            </a:endParaRPr>
          </a:p>
          <a:p>
            <a:pPr marL="0" indent="0" algn="ctr">
              <a:lnSpc>
                <a:spcPct val="150000"/>
              </a:lnSpc>
              <a:spcBef>
                <a:spcPts val="0"/>
              </a:spcBef>
              <a:buNone/>
            </a:pPr>
            <a:r>
              <a:rPr lang="en-US" altLang="en-US" sz="1600" dirty="0">
                <a:latin typeface="Times New Roman" panose="02020603050405020304" pitchFamily="18" charset="0"/>
                <a:cs typeface="Times New Roman" panose="02020603050405020304" pitchFamily="18" charset="0"/>
              </a:rPr>
              <a:t>September 1, 2023</a:t>
            </a:r>
          </a:p>
          <a:p>
            <a:pPr marL="0" indent="0">
              <a:lnSpc>
                <a:spcPct val="150000"/>
              </a:lnSpc>
              <a:spcBef>
                <a:spcPts val="0"/>
              </a:spcBef>
              <a:buNone/>
            </a:pPr>
            <a:endParaRPr lang="en-US" sz="1600" dirty="0"/>
          </a:p>
        </p:txBody>
      </p:sp>
    </p:spTree>
    <p:extLst>
      <p:ext uri="{BB962C8B-B14F-4D97-AF65-F5344CB8AC3E}">
        <p14:creationId xmlns:p14="http://schemas.microsoft.com/office/powerpoint/2010/main" val="3357119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F7678-9386-BC57-6B91-D5D480ED35AF}"/>
              </a:ext>
            </a:extLst>
          </p:cNvPr>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ABSTRACT</a:t>
            </a: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6D8A1B-C9C3-943D-C980-0C5D83BC49F1}"/>
              </a:ext>
            </a:extLst>
          </p:cNvPr>
          <p:cNvSpPr>
            <a:spLocks noGrp="1"/>
          </p:cNvSpPr>
          <p:nvPr>
            <p:ph idx="1"/>
          </p:nvPr>
        </p:nvSpPr>
        <p:spPr>
          <a:xfrm>
            <a:off x="1478917" y="2444052"/>
            <a:ext cx="9515556" cy="4336946"/>
          </a:xfrm>
        </p:spPr>
        <p:txBody>
          <a:bodyPr>
            <a:noAutofit/>
          </a:bodyPr>
          <a:lstStyle/>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Containerization is one of the most recent advancements in cloud computing. Containers are a small package of</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Software components That bundle an application, dependencies, and settings into a single image that may be</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operated in isolated user environments on a physical machine or in a virtualized environment. Containers as a</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service (CaaS) is a cloud service model that allows users to execute their tasks in an isolated environment. In</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CaaS, containers are deployed in a virtual machine (VM), and in turn, virtual machines are deployed in a physical</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machine (PM). Containers virtualize software, i.e., operating system (OS), and the virtual machine is the</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mechanism of hardware virtualization. Hence, CaaS is also termed hybrid virtualization. This chapter discusses</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different virtualization techniques in the cloud, the difference between hardware and software virtualization, what</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containers are and why to use containers, and the architectural difference between virtual machine and container.</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We discuss the CaaS cloud model, the architecture and implementation of CaaS, and the advantage and</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disadvantages of CaaS. Then a detailed discussion on the research challenges available with the CaaS model is</a:t>
            </a:r>
          </a:p>
          <a:p>
            <a:pPr marL="216000" indent="-182880" algn="just">
              <a:spcBef>
                <a:spcPts val="600"/>
              </a:spcBef>
              <a:buSzPct val="85000"/>
              <a:buNone/>
              <a:defRPr/>
            </a:pPr>
            <a:r>
              <a:rPr lang="en-US" sz="1600" dirty="0">
                <a:latin typeface="Times New Roman" panose="02020603050405020304" pitchFamily="18" charset="0"/>
                <a:cs typeface="Times New Roman" panose="02020603050405020304" pitchFamily="18" charset="0"/>
              </a:rPr>
              <a:t>presented. Finally, the chapter is concluded with a few future directions. </a:t>
            </a:r>
          </a:p>
          <a:p>
            <a:pPr marL="216000" indent="-182880" algn="just" eaLnBrk="1" fontAlgn="auto" hangingPunct="1">
              <a:lnSpc>
                <a:spcPct val="100000"/>
              </a:lnSpc>
              <a:spcBef>
                <a:spcPts val="600"/>
              </a:spcBef>
              <a:buSzPct val="85000"/>
              <a:buFont typeface="Monotype Sorts" pitchFamily="-84" charset="2"/>
              <a:buNone/>
              <a:defRP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5040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E409-F1EE-3EFA-2560-4C9EC869C175}"/>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WHAT IS CLOUD COMPUTING?</a:t>
            </a:r>
          </a:p>
        </p:txBody>
      </p:sp>
      <p:sp>
        <p:nvSpPr>
          <p:cNvPr id="3" name="Content Placeholder 2">
            <a:extLst>
              <a:ext uri="{FF2B5EF4-FFF2-40B4-BE49-F238E27FC236}">
                <a16:creationId xmlns:a16="http://schemas.microsoft.com/office/drawing/2014/main" id="{FA6110B3-6D93-C9A9-491A-2B1A82582B25}"/>
              </a:ext>
            </a:extLst>
          </p:cNvPr>
          <p:cNvSpPr>
            <a:spLocks noGrp="1"/>
          </p:cNvSpPr>
          <p:nvPr>
            <p:ph idx="1"/>
          </p:nvPr>
        </p:nvSpPr>
        <p:spPr>
          <a:xfrm>
            <a:off x="1024128" y="2187019"/>
            <a:ext cx="9720073" cy="4122341"/>
          </a:xfrm>
        </p:spPr>
        <p:txBody>
          <a:bodyPr>
            <a:noAutofit/>
          </a:bodyPr>
          <a:lstStyle/>
          <a:p>
            <a:pPr marL="0" indent="0">
              <a:lnSpc>
                <a:spcPct val="100000"/>
              </a:lnSpc>
              <a:buNone/>
            </a:pPr>
            <a:r>
              <a:rPr lang="en-US" sz="1600" dirty="0">
                <a:latin typeface="Times New Roman" panose="02020603050405020304" pitchFamily="18" charset="0"/>
                <a:cs typeface="Times New Roman" panose="02020603050405020304" pitchFamily="18" charset="0"/>
              </a:rPr>
              <a:t>Cloud Computing is the delivery of computing services – including servers, storage, databases, networking, software, analytics, and intelligence – over the Internet(‘the cloud’) to offer faster innovation, flexible resources, and economics of scale.</a:t>
            </a:r>
          </a:p>
          <a:p>
            <a:pPr marL="0" indent="0">
              <a:lnSpc>
                <a:spcPct val="100000"/>
              </a:lnSpc>
              <a:buNone/>
            </a:pPr>
            <a:r>
              <a:rPr lang="en-US" sz="1600" dirty="0">
                <a:latin typeface="Times New Roman" panose="02020603050405020304" pitchFamily="18" charset="0"/>
                <a:cs typeface="Times New Roman" panose="02020603050405020304" pitchFamily="18" charset="0"/>
              </a:rPr>
              <a:t>It is one of the emerging technology in the field of distributed computing and is designed as per the requirement and demand of the user.</a:t>
            </a:r>
          </a:p>
          <a:p>
            <a:pPr marL="0" indent="0">
              <a:lnSpc>
                <a:spcPct val="100000"/>
              </a:lnSpc>
              <a:buNone/>
            </a:pPr>
            <a:r>
              <a:rPr lang="en-US" sz="1800" b="1" dirty="0">
                <a:latin typeface="Times New Roman" panose="02020603050405020304" pitchFamily="18" charset="0"/>
                <a:cs typeface="Times New Roman" panose="02020603050405020304" pitchFamily="18" charset="0"/>
              </a:rPr>
              <a:t>Features:</a:t>
            </a:r>
          </a:p>
          <a:p>
            <a:pPr>
              <a:lnSpc>
                <a:spcPct val="10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Virtualization</a:t>
            </a:r>
          </a:p>
          <a:p>
            <a:pPr>
              <a:lnSpc>
                <a:spcPct val="10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On-demand availability</a:t>
            </a:r>
          </a:p>
          <a:p>
            <a:pPr>
              <a:lnSpc>
                <a:spcPct val="10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Low-cost services</a:t>
            </a:r>
          </a:p>
          <a:p>
            <a:pPr>
              <a:lnSpc>
                <a:spcPct val="10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Parallel computing</a:t>
            </a:r>
          </a:p>
          <a:p>
            <a:pPr>
              <a:lnSpc>
                <a:spcPct val="10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Security</a:t>
            </a:r>
          </a:p>
        </p:txBody>
      </p:sp>
      <p:pic>
        <p:nvPicPr>
          <p:cNvPr id="4" name="Picture 3">
            <a:extLst>
              <a:ext uri="{FF2B5EF4-FFF2-40B4-BE49-F238E27FC236}">
                <a16:creationId xmlns:a16="http://schemas.microsoft.com/office/drawing/2014/main" id="{32B93041-B61E-B620-A37E-E546B0455D18}"/>
              </a:ext>
            </a:extLst>
          </p:cNvPr>
          <p:cNvPicPr>
            <a:picLocks noChangeAspect="1"/>
          </p:cNvPicPr>
          <p:nvPr/>
        </p:nvPicPr>
        <p:blipFill>
          <a:blip r:embed="rId2"/>
          <a:stretch>
            <a:fillRect/>
          </a:stretch>
        </p:blipFill>
        <p:spPr>
          <a:xfrm>
            <a:off x="6730456" y="3694522"/>
            <a:ext cx="3690088" cy="2103563"/>
          </a:xfrm>
          <a:prstGeom prst="rect">
            <a:avLst/>
          </a:prstGeom>
        </p:spPr>
      </p:pic>
    </p:spTree>
    <p:extLst>
      <p:ext uri="{BB962C8B-B14F-4D97-AF65-F5344CB8AC3E}">
        <p14:creationId xmlns:p14="http://schemas.microsoft.com/office/powerpoint/2010/main" val="1450772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B7655-3452-9C36-5238-696F6ED63919}"/>
              </a:ext>
            </a:extLst>
          </p:cNvPr>
          <p:cNvSpPr>
            <a:spLocks noGrp="1"/>
          </p:cNvSpPr>
          <p:nvPr>
            <p:ph type="title"/>
          </p:nvPr>
        </p:nvSpPr>
        <p:spPr>
          <a:xfrm>
            <a:off x="1154954" y="973668"/>
            <a:ext cx="9978102" cy="706964"/>
          </a:xfrm>
        </p:spPr>
        <p:txBody>
          <a:bodyPr>
            <a:normAutofit/>
          </a:bodyPr>
          <a:lstStyle/>
          <a:p>
            <a:r>
              <a:rPr lang="en-US" sz="1600" b="1" dirty="0">
                <a:latin typeface="Times New Roman" panose="02020603050405020304" pitchFamily="18" charset="0"/>
                <a:cs typeface="Times New Roman" panose="02020603050405020304" pitchFamily="18" charset="0"/>
              </a:rPr>
              <a:t>     CLOUD DEPLOYMENT MODEL                                                  CLOUD SERVICE MODEL</a:t>
            </a:r>
          </a:p>
        </p:txBody>
      </p:sp>
      <p:pic>
        <p:nvPicPr>
          <p:cNvPr id="9" name="Content Placeholder 8" descr="A couple of blue and green clouds with text&#10;&#10;Description automatically generated">
            <a:extLst>
              <a:ext uri="{FF2B5EF4-FFF2-40B4-BE49-F238E27FC236}">
                <a16:creationId xmlns:a16="http://schemas.microsoft.com/office/drawing/2014/main" id="{AE1F7E03-DA60-1429-8EDF-A5D2A4BB72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8991" y="2911902"/>
            <a:ext cx="4985496" cy="1424428"/>
          </a:xfrm>
        </p:spPr>
      </p:pic>
      <p:pic>
        <p:nvPicPr>
          <p:cNvPr id="11" name="Picture 10" descr="A diagram of a cloud service model&#10;&#10;Description automatically generated">
            <a:extLst>
              <a:ext uri="{FF2B5EF4-FFF2-40B4-BE49-F238E27FC236}">
                <a16:creationId xmlns:a16="http://schemas.microsoft.com/office/drawing/2014/main" id="{79342FDD-0EE9-C476-221C-1CDB5FC512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2621" y="2446141"/>
            <a:ext cx="4680435" cy="3247649"/>
          </a:xfrm>
          <a:prstGeom prst="rect">
            <a:avLst/>
          </a:prstGeom>
        </p:spPr>
      </p:pic>
    </p:spTree>
    <p:extLst>
      <p:ext uri="{BB962C8B-B14F-4D97-AF65-F5344CB8AC3E}">
        <p14:creationId xmlns:p14="http://schemas.microsoft.com/office/powerpoint/2010/main" val="26215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47DF0-0C37-5616-31CA-8B9732D54616}"/>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VIRTUALIZATION IN CLOUD COMPUTING</a:t>
            </a:r>
          </a:p>
        </p:txBody>
      </p:sp>
      <p:sp>
        <p:nvSpPr>
          <p:cNvPr id="3" name="Content Placeholder 2">
            <a:extLst>
              <a:ext uri="{FF2B5EF4-FFF2-40B4-BE49-F238E27FC236}">
                <a16:creationId xmlns:a16="http://schemas.microsoft.com/office/drawing/2014/main" id="{0B53830B-F427-4748-68C5-7D5FF66D3140}"/>
              </a:ext>
            </a:extLst>
          </p:cNvPr>
          <p:cNvSpPr>
            <a:spLocks noGrp="1"/>
          </p:cNvSpPr>
          <p:nvPr>
            <p:ph idx="1"/>
          </p:nvPr>
        </p:nvSpPr>
        <p:spPr>
          <a:xfrm>
            <a:off x="1024128" y="2403834"/>
            <a:ext cx="4230624" cy="3838977"/>
          </a:xfrm>
        </p:spPr>
        <p:txBody>
          <a:bodyPr>
            <a:norm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What is Virtualization?</a:t>
            </a:r>
          </a:p>
          <a:p>
            <a:pPr marL="0" indent="0">
              <a:lnSpc>
                <a:spcPct val="150000"/>
              </a:lnSpc>
              <a:buNone/>
            </a:pPr>
            <a:r>
              <a:rPr lang="en-US" sz="1800" dirty="0">
                <a:latin typeface="Times New Roman" panose="02020603050405020304" pitchFamily="18" charset="0"/>
                <a:cs typeface="Times New Roman" panose="02020603050405020304" pitchFamily="18" charset="0"/>
              </a:rPr>
              <a:t>Virtualization is the process of creating a software-based, or virtual representation of something, such as virtual applications, servers, storage and networks. Virtual machines(VMs) have been the backbone at the infrastructure layer providing virtualized operating systems.</a:t>
            </a:r>
          </a:p>
        </p:txBody>
      </p:sp>
      <p:pic>
        <p:nvPicPr>
          <p:cNvPr id="7" name="Picture 6" descr="A diagram of a computer program&#10;&#10;Description automatically generated with medium confidence">
            <a:extLst>
              <a:ext uri="{FF2B5EF4-FFF2-40B4-BE49-F238E27FC236}">
                <a16:creationId xmlns:a16="http://schemas.microsoft.com/office/drawing/2014/main" id="{AE2F3DB0-DB1C-AEA6-E277-4BF03574D0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6319" y="2506398"/>
            <a:ext cx="5573562" cy="3489050"/>
          </a:xfrm>
          <a:prstGeom prst="rect">
            <a:avLst/>
          </a:prstGeom>
        </p:spPr>
      </p:pic>
    </p:spTree>
    <p:extLst>
      <p:ext uri="{BB962C8B-B14F-4D97-AF65-F5344CB8AC3E}">
        <p14:creationId xmlns:p14="http://schemas.microsoft.com/office/powerpoint/2010/main" val="2473461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3A5BE-101E-9BF6-E459-4A58FBBCB0DB}"/>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TYPES OF VIRTUALIZATION</a:t>
            </a:r>
          </a:p>
        </p:txBody>
      </p:sp>
      <p:pic>
        <p:nvPicPr>
          <p:cNvPr id="3" name="Picture 2"/>
          <p:cNvPicPr>
            <a:picLocks noChangeAspect="1"/>
          </p:cNvPicPr>
          <p:nvPr/>
        </p:nvPicPr>
        <p:blipFill>
          <a:blip r:embed="rId2"/>
          <a:stretch>
            <a:fillRect/>
          </a:stretch>
        </p:blipFill>
        <p:spPr>
          <a:xfrm>
            <a:off x="2378474" y="2835458"/>
            <a:ext cx="7105648" cy="2971453"/>
          </a:xfrm>
          <a:prstGeom prst="rect">
            <a:avLst/>
          </a:prstGeom>
        </p:spPr>
      </p:pic>
    </p:spTree>
    <p:extLst>
      <p:ext uri="{BB962C8B-B14F-4D97-AF65-F5344CB8AC3E}">
        <p14:creationId xmlns:p14="http://schemas.microsoft.com/office/powerpoint/2010/main" val="27198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70C52-362D-8FE4-359A-594CCA43E0EE}"/>
              </a:ext>
            </a:extLst>
          </p:cNvPr>
          <p:cNvSpPr>
            <a:spLocks noGrp="1"/>
          </p:cNvSpPr>
          <p:nvPr>
            <p:ph type="title"/>
          </p:nvPr>
        </p:nvSpPr>
        <p:spPr/>
        <p:txBody>
          <a:bodyPr>
            <a:normAutofit/>
          </a:bodyPr>
          <a:lstStyle/>
          <a:p>
            <a:pPr algn="ctr"/>
            <a:r>
              <a:rPr lang="en-US" sz="1600" b="1" dirty="0">
                <a:latin typeface="Times New Roman" panose="02020603050405020304" pitchFamily="18" charset="0"/>
                <a:cs typeface="Times New Roman" panose="02020603050405020304" pitchFamily="18" charset="0"/>
              </a:rPr>
              <a:t>ARCHITECTURE OF CONTAINER VS VIRTUAL MACHINE</a:t>
            </a:r>
          </a:p>
        </p:txBody>
      </p:sp>
      <p:pic>
        <p:nvPicPr>
          <p:cNvPr id="5" name="Content Placeholder 4" descr="A diagram of a software application&#10;&#10;Description automatically generated with medium confidence">
            <a:extLst>
              <a:ext uri="{FF2B5EF4-FFF2-40B4-BE49-F238E27FC236}">
                <a16:creationId xmlns:a16="http://schemas.microsoft.com/office/drawing/2014/main" id="{748383A6-F8A6-6E47-D672-93A02772DB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544" y="2309567"/>
            <a:ext cx="3411349" cy="3288344"/>
          </a:xfrm>
        </p:spPr>
      </p:pic>
      <p:pic>
        <p:nvPicPr>
          <p:cNvPr id="7" name="Picture 6" descr="A screenshot of a computer&#10;&#10;Description automatically generated">
            <a:extLst>
              <a:ext uri="{FF2B5EF4-FFF2-40B4-BE49-F238E27FC236}">
                <a16:creationId xmlns:a16="http://schemas.microsoft.com/office/drawing/2014/main" id="{161AF4AB-E921-27F8-0429-1B09752E59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4054" y="2309567"/>
            <a:ext cx="3278756" cy="3288344"/>
          </a:xfrm>
          <a:prstGeom prst="rect">
            <a:avLst/>
          </a:prstGeom>
        </p:spPr>
      </p:pic>
      <p:sp>
        <p:nvSpPr>
          <p:cNvPr id="8" name="TextBox 7">
            <a:extLst>
              <a:ext uri="{FF2B5EF4-FFF2-40B4-BE49-F238E27FC236}">
                <a16:creationId xmlns:a16="http://schemas.microsoft.com/office/drawing/2014/main" id="{60578EDD-F163-D879-7F5A-5B9D97A62F6D}"/>
              </a:ext>
            </a:extLst>
          </p:cNvPr>
          <p:cNvSpPr txBox="1"/>
          <p:nvPr/>
        </p:nvSpPr>
        <p:spPr>
          <a:xfrm>
            <a:off x="2107581" y="5910512"/>
            <a:ext cx="1929161" cy="338554"/>
          </a:xfrm>
          <a:prstGeom prst="rect">
            <a:avLst/>
          </a:prstGeom>
          <a:noFill/>
          <a:ln>
            <a:solidFill>
              <a:schemeClr val="tx1"/>
            </a:solidFill>
          </a:ln>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Container</a:t>
            </a:r>
          </a:p>
        </p:txBody>
      </p:sp>
      <p:sp>
        <p:nvSpPr>
          <p:cNvPr id="10" name="TextBox 9">
            <a:extLst>
              <a:ext uri="{FF2B5EF4-FFF2-40B4-BE49-F238E27FC236}">
                <a16:creationId xmlns:a16="http://schemas.microsoft.com/office/drawing/2014/main" id="{767E6D3A-0F96-5199-7510-1F9CB7EC35B4}"/>
              </a:ext>
            </a:extLst>
          </p:cNvPr>
          <p:cNvSpPr txBox="1"/>
          <p:nvPr/>
        </p:nvSpPr>
        <p:spPr>
          <a:xfrm>
            <a:off x="7750571" y="5910512"/>
            <a:ext cx="2367775" cy="338554"/>
          </a:xfrm>
          <a:prstGeom prst="rect">
            <a:avLst/>
          </a:prstGeom>
          <a:noFill/>
          <a:ln>
            <a:solidFill>
              <a:schemeClr val="tx1"/>
            </a:solidFill>
          </a:ln>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Virtual Machine</a:t>
            </a:r>
          </a:p>
        </p:txBody>
      </p:sp>
    </p:spTree>
    <p:extLst>
      <p:ext uri="{BB962C8B-B14F-4D97-AF65-F5344CB8AC3E}">
        <p14:creationId xmlns:p14="http://schemas.microsoft.com/office/powerpoint/2010/main" val="146345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30951-A24F-C0EA-55D0-4850EB116A73}"/>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CONTAINER AS A SERVICE(CaaS)</a:t>
            </a:r>
            <a:endParaRPr lang="en-US" sz="2400" dirty="0"/>
          </a:p>
        </p:txBody>
      </p:sp>
      <p:sp>
        <p:nvSpPr>
          <p:cNvPr id="3" name="Content Placeholder 2">
            <a:extLst>
              <a:ext uri="{FF2B5EF4-FFF2-40B4-BE49-F238E27FC236}">
                <a16:creationId xmlns:a16="http://schemas.microsoft.com/office/drawing/2014/main" id="{DD85CC1C-79D7-F0B5-5272-963B9D7DB8E9}"/>
              </a:ext>
            </a:extLst>
          </p:cNvPr>
          <p:cNvSpPr>
            <a:spLocks noGrp="1"/>
          </p:cNvSpPr>
          <p:nvPr>
            <p:ph idx="1"/>
          </p:nvPr>
        </p:nvSpPr>
        <p:spPr>
          <a:xfrm>
            <a:off x="838199" y="2220367"/>
            <a:ext cx="5289224" cy="4152152"/>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What is CaaS?</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CaaS (Container-as-a-Service) is a solution that automates them hosting and the deployment of containerized software packages. Containers emerged as a lightweight alternative to virtual machines (VMs) that offer better micro-service architecture support. With CaaS, software development teams can focus on their applications without the need to manage the underlying infrastructure. It eliminates the need for dedicated DevOps resources to oversee and manage the cloud machines and network routing systems that support containers.</a:t>
            </a:r>
            <a:r>
              <a:rPr lang="en-US" sz="1600" dirty="0"/>
              <a:t> </a:t>
            </a:r>
            <a:endParaRPr lang="en-US" sz="16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6909846" y="2470938"/>
            <a:ext cx="4713403" cy="3766368"/>
          </a:xfrm>
          <a:prstGeom prst="rect">
            <a:avLst/>
          </a:prstGeom>
        </p:spPr>
      </p:pic>
    </p:spTree>
    <p:extLst>
      <p:ext uri="{BB962C8B-B14F-4D97-AF65-F5344CB8AC3E}">
        <p14:creationId xmlns:p14="http://schemas.microsoft.com/office/powerpoint/2010/main" val="818036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A3A06-07B6-3CAA-CD0C-BF3038EE702A}"/>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Advantages and Disadvantages of CaaS</a:t>
            </a:r>
          </a:p>
        </p:txBody>
      </p:sp>
      <p:sp>
        <p:nvSpPr>
          <p:cNvPr id="3" name="Text Placeholder 2">
            <a:extLst>
              <a:ext uri="{FF2B5EF4-FFF2-40B4-BE49-F238E27FC236}">
                <a16:creationId xmlns:a16="http://schemas.microsoft.com/office/drawing/2014/main" id="{77E30E91-EF5A-92C7-80E1-7ABCB96A0116}"/>
              </a:ext>
            </a:extLst>
          </p:cNvPr>
          <p:cNvSpPr>
            <a:spLocks noGrp="1"/>
          </p:cNvSpPr>
          <p:nvPr>
            <p:ph type="body" idx="1"/>
          </p:nvPr>
        </p:nvSpPr>
        <p:spPr>
          <a:xfrm>
            <a:off x="690279" y="2032430"/>
            <a:ext cx="4591748" cy="621411"/>
          </a:xfrm>
        </p:spPr>
        <p:txBody>
          <a:bodyPr>
            <a:normAutofit/>
          </a:bodyPr>
          <a:lstStyle/>
          <a:p>
            <a:pPr algn="ctr"/>
            <a:r>
              <a:rPr lang="en-US" sz="2000" u="sng" dirty="0"/>
              <a:t>Advantages</a:t>
            </a:r>
            <a:endParaRPr lang="en-US" sz="1600" u="sng" dirty="0"/>
          </a:p>
        </p:txBody>
      </p:sp>
      <p:sp>
        <p:nvSpPr>
          <p:cNvPr id="4" name="Content Placeholder 3">
            <a:extLst>
              <a:ext uri="{FF2B5EF4-FFF2-40B4-BE49-F238E27FC236}">
                <a16:creationId xmlns:a16="http://schemas.microsoft.com/office/drawing/2014/main" id="{4857C0E0-A9E6-ADE9-A715-0A9D551E9895}"/>
              </a:ext>
            </a:extLst>
          </p:cNvPr>
          <p:cNvSpPr>
            <a:spLocks noGrp="1"/>
          </p:cNvSpPr>
          <p:nvPr>
            <p:ph sz="half" idx="2"/>
          </p:nvPr>
        </p:nvSpPr>
        <p:spPr>
          <a:xfrm>
            <a:off x="1037751" y="3005639"/>
            <a:ext cx="4244276" cy="2953893"/>
          </a:xfrm>
        </p:spPr>
        <p:txBody>
          <a:bodyPr>
            <a:normAutofit/>
          </a:bodyPr>
          <a:lstStyle/>
          <a:p>
            <a:pPr>
              <a:buFont typeface="Wingdings" panose="05000000000000000000" pitchFamily="2" charset="2"/>
              <a:buChar char="v"/>
            </a:pPr>
            <a:r>
              <a:rPr lang="en-US" sz="1800" b="0" i="0" dirty="0">
                <a:solidFill>
                  <a:srgbClr val="2A2A2A"/>
                </a:solidFill>
                <a:effectLst/>
                <a:latin typeface="Times New Roman" panose="02020603050405020304" pitchFamily="18" charset="0"/>
                <a:cs typeface="Times New Roman" panose="02020603050405020304" pitchFamily="18" charset="0"/>
              </a:rPr>
              <a:t> Portability</a:t>
            </a:r>
          </a:p>
          <a:p>
            <a:pPr>
              <a:buFont typeface="Wingdings" panose="05000000000000000000" pitchFamily="2" charset="2"/>
              <a:buChar char="v"/>
            </a:pPr>
            <a:r>
              <a:rPr lang="en-US" sz="1800" dirty="0">
                <a:solidFill>
                  <a:srgbClr val="2A2A2A"/>
                </a:solidFill>
                <a:latin typeface="Times New Roman" panose="02020603050405020304" pitchFamily="18" charset="0"/>
                <a:cs typeface="Times New Roman" panose="02020603050405020304" pitchFamily="18" charset="0"/>
              </a:rPr>
              <a:t> Scalability</a:t>
            </a:r>
          </a:p>
          <a:p>
            <a:pPr>
              <a:buFont typeface="Wingdings" panose="05000000000000000000" pitchFamily="2" charset="2"/>
              <a:buChar char="v"/>
            </a:pPr>
            <a:r>
              <a:rPr lang="en-US" sz="1800" dirty="0">
                <a:solidFill>
                  <a:srgbClr val="2A2A2A"/>
                </a:solidFill>
                <a:latin typeface="Times New Roman" panose="02020603050405020304" pitchFamily="18" charset="0"/>
                <a:cs typeface="Times New Roman" panose="02020603050405020304" pitchFamily="18" charset="0"/>
              </a:rPr>
              <a:t> Isolation</a:t>
            </a:r>
          </a:p>
          <a:p>
            <a:pPr>
              <a:buFont typeface="Wingdings" panose="05000000000000000000" pitchFamily="2" charset="2"/>
              <a:buChar char="v"/>
            </a:pPr>
            <a:r>
              <a:rPr lang="en-US" sz="1800" dirty="0">
                <a:solidFill>
                  <a:srgbClr val="2A2A2A"/>
                </a:solidFill>
                <a:latin typeface="Times New Roman" panose="02020603050405020304" pitchFamily="18" charset="0"/>
                <a:cs typeface="Times New Roman" panose="02020603050405020304" pitchFamily="18" charset="0"/>
              </a:rPr>
              <a:t> Consistency</a:t>
            </a:r>
          </a:p>
          <a:p>
            <a:pPr>
              <a:buFont typeface="Wingdings" panose="05000000000000000000" pitchFamily="2" charset="2"/>
              <a:buChar char="v"/>
            </a:pPr>
            <a:r>
              <a:rPr lang="en-US" sz="1800" dirty="0">
                <a:solidFill>
                  <a:srgbClr val="2A2A2A"/>
                </a:solidFill>
                <a:latin typeface="Times New Roman" panose="02020603050405020304" pitchFamily="18" charset="0"/>
                <a:cs typeface="Times New Roman" panose="02020603050405020304" pitchFamily="18" charset="0"/>
              </a:rPr>
              <a:t> Resource efficiency</a:t>
            </a:r>
          </a:p>
          <a:p>
            <a:pPr>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041AAAE3-5CDB-9320-5421-85F7263E22CC}"/>
              </a:ext>
            </a:extLst>
          </p:cNvPr>
          <p:cNvSpPr>
            <a:spLocks noGrp="1"/>
          </p:cNvSpPr>
          <p:nvPr>
            <p:ph type="body" sz="quarter" idx="3"/>
          </p:nvPr>
        </p:nvSpPr>
        <p:spPr>
          <a:xfrm>
            <a:off x="6587522" y="2032430"/>
            <a:ext cx="4767866" cy="621411"/>
          </a:xfrm>
        </p:spPr>
        <p:txBody>
          <a:bodyPr>
            <a:normAutofit/>
          </a:bodyPr>
          <a:lstStyle/>
          <a:p>
            <a:pPr algn="ctr"/>
            <a:r>
              <a:rPr lang="en-US" sz="2000" u="sng" dirty="0"/>
              <a:t>Disadvantages</a:t>
            </a:r>
          </a:p>
        </p:txBody>
      </p:sp>
      <p:sp>
        <p:nvSpPr>
          <p:cNvPr id="6" name="Content Placeholder 5">
            <a:extLst>
              <a:ext uri="{FF2B5EF4-FFF2-40B4-BE49-F238E27FC236}">
                <a16:creationId xmlns:a16="http://schemas.microsoft.com/office/drawing/2014/main" id="{3CED8C24-FED4-FED8-0C51-EE0BAA9205DC}"/>
              </a:ext>
            </a:extLst>
          </p:cNvPr>
          <p:cNvSpPr>
            <a:spLocks noGrp="1"/>
          </p:cNvSpPr>
          <p:nvPr>
            <p:ph sz="quarter" idx="4"/>
          </p:nvPr>
        </p:nvSpPr>
        <p:spPr>
          <a:xfrm>
            <a:off x="6587522" y="2911370"/>
            <a:ext cx="4352544" cy="2953893"/>
          </a:xfrm>
        </p:spPr>
        <p:txBody>
          <a:bodyPr>
            <a:normAutofit/>
          </a:bodyPr>
          <a:lstStyle/>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 Security</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 Complexity</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 Storage</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 Networking</a:t>
            </a:r>
          </a:p>
          <a:p>
            <a:pP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 Compatibility</a:t>
            </a:r>
          </a:p>
        </p:txBody>
      </p:sp>
    </p:spTree>
    <p:extLst>
      <p:ext uri="{BB962C8B-B14F-4D97-AF65-F5344CB8AC3E}">
        <p14:creationId xmlns:p14="http://schemas.microsoft.com/office/powerpoint/2010/main" val="693250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8D0C5-CD2F-DEB2-4181-6BEEDE8E997C}"/>
              </a:ext>
            </a:extLst>
          </p:cNvPr>
          <p:cNvSpPr>
            <a:spLocks noGrp="1"/>
          </p:cNvSpPr>
          <p:nvPr>
            <p:ph type="title"/>
          </p:nvPr>
        </p:nvSpPr>
        <p:spPr>
          <a:xfrm>
            <a:off x="763956" y="848587"/>
            <a:ext cx="8761413" cy="706964"/>
          </a:xfrm>
        </p:spPr>
        <p:txBody>
          <a:bodyPr/>
          <a:lstStyle/>
          <a:p>
            <a:r>
              <a:rPr lang="en-IN" sz="2400" dirty="0"/>
              <a:t>Red Panda Optimization Algorithm in Container as a Service in Cloud:</a:t>
            </a:r>
          </a:p>
        </p:txBody>
      </p:sp>
      <p:sp>
        <p:nvSpPr>
          <p:cNvPr id="3" name="Text Placeholder 2">
            <a:extLst>
              <a:ext uri="{FF2B5EF4-FFF2-40B4-BE49-F238E27FC236}">
                <a16:creationId xmlns:a16="http://schemas.microsoft.com/office/drawing/2014/main" id="{C489405C-E19F-CDBB-1005-F7F8E71BD973}"/>
              </a:ext>
            </a:extLst>
          </p:cNvPr>
          <p:cNvSpPr>
            <a:spLocks noGrp="1"/>
          </p:cNvSpPr>
          <p:nvPr>
            <p:ph type="body" idx="1"/>
          </p:nvPr>
        </p:nvSpPr>
        <p:spPr>
          <a:xfrm>
            <a:off x="676937" y="564149"/>
            <a:ext cx="11030630" cy="5233508"/>
          </a:xfrm>
        </p:spPr>
        <p:txBody>
          <a:bodyPr/>
          <a:lstStyle/>
          <a:p>
            <a:r>
              <a:rPr lang="en-US" sz="2000" dirty="0">
                <a:solidFill>
                  <a:schemeClr val="tx1">
                    <a:lumMod val="65000"/>
                    <a:lumOff val="35000"/>
                  </a:schemeClr>
                </a:solidFill>
              </a:rPr>
              <a:t>- The Red Panda Optimization Algorithm (RPOA) is a nature-inspired optimization technique that draws inspiration from the behavior of red pandas in searching for food and mating partners.</a:t>
            </a:r>
          </a:p>
          <a:p>
            <a:r>
              <a:rPr lang="en-US" sz="2000" dirty="0">
                <a:solidFill>
                  <a:schemeClr val="tx1">
                    <a:lumMod val="65000"/>
                    <a:lumOff val="35000"/>
                  </a:schemeClr>
                </a:solidFill>
              </a:rPr>
              <a:t>- It's a population-based algorithm that simulates the foraging behavior of red pandas to find optimal solutions to various problems.</a:t>
            </a:r>
          </a:p>
          <a:p>
            <a:r>
              <a:rPr lang="en-US" sz="2000" dirty="0">
                <a:solidFill>
                  <a:schemeClr val="tx1">
                    <a:lumMod val="65000"/>
                    <a:lumOff val="35000"/>
                  </a:schemeClr>
                </a:solidFill>
              </a:rPr>
              <a:t>- RPOA's key components include population initialization, search space exploration, and optimization through iterative processes.</a:t>
            </a:r>
          </a:p>
          <a:p>
            <a:r>
              <a:rPr lang="en-US" sz="2000" dirty="0">
                <a:solidFill>
                  <a:schemeClr val="tx1">
                    <a:lumMod val="65000"/>
                    <a:lumOff val="35000"/>
                  </a:schemeClr>
                </a:solidFill>
              </a:rPr>
              <a:t>- It's characterized by exploratory and exploitative phases to strike a balance between local and global search.</a:t>
            </a:r>
            <a:endParaRPr lang="en-IN" sz="2000" dirty="0">
              <a:solidFill>
                <a:schemeClr val="tx1">
                  <a:lumMod val="65000"/>
                  <a:lumOff val="35000"/>
                </a:schemeClr>
              </a:solidFill>
            </a:endParaRPr>
          </a:p>
        </p:txBody>
      </p:sp>
    </p:spTree>
    <p:extLst>
      <p:ext uri="{BB962C8B-B14F-4D97-AF65-F5344CB8AC3E}">
        <p14:creationId xmlns:p14="http://schemas.microsoft.com/office/powerpoint/2010/main" val="4216036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95226-726C-6961-C085-AA59167E7D32}"/>
              </a:ext>
            </a:extLst>
          </p:cNvPr>
          <p:cNvSpPr>
            <a:spLocks noGrp="1"/>
          </p:cNvSpPr>
          <p:nvPr>
            <p:ph type="title"/>
          </p:nvPr>
        </p:nvSpPr>
        <p:spPr/>
        <p:txBody>
          <a:bodyPr/>
          <a:lstStyle/>
          <a:p>
            <a:r>
              <a:rPr lang="en-IN" dirty="0"/>
              <a:t>Integration of RPOA in CaaS</a:t>
            </a:r>
          </a:p>
        </p:txBody>
      </p:sp>
      <p:sp>
        <p:nvSpPr>
          <p:cNvPr id="3" name="Text Placeholder 2">
            <a:extLst>
              <a:ext uri="{FF2B5EF4-FFF2-40B4-BE49-F238E27FC236}">
                <a16:creationId xmlns:a16="http://schemas.microsoft.com/office/drawing/2014/main" id="{EC8D1DC8-7D03-913F-1625-D91B7EC0E91B}"/>
              </a:ext>
            </a:extLst>
          </p:cNvPr>
          <p:cNvSpPr>
            <a:spLocks noGrp="1"/>
          </p:cNvSpPr>
          <p:nvPr>
            <p:ph type="body" idx="1"/>
          </p:nvPr>
        </p:nvSpPr>
        <p:spPr>
          <a:xfrm>
            <a:off x="969669" y="4297547"/>
            <a:ext cx="9839502" cy="576262"/>
          </a:xfrm>
        </p:spPr>
        <p:txBody>
          <a:bodyPr/>
          <a:lstStyle/>
          <a:p>
            <a:r>
              <a:rPr lang="en-US" sz="2000" dirty="0">
                <a:solidFill>
                  <a:schemeClr val="tx1">
                    <a:lumMod val="65000"/>
                    <a:lumOff val="35000"/>
                  </a:schemeClr>
                </a:solidFill>
              </a:rPr>
              <a:t>- The integration of RPOA into CaaS environments aims to optimize resource allocation and container orchestration.</a:t>
            </a:r>
          </a:p>
          <a:p>
            <a:r>
              <a:rPr lang="en-US" sz="2000" dirty="0">
                <a:solidFill>
                  <a:schemeClr val="tx1">
                    <a:lumMod val="65000"/>
                    <a:lumOff val="35000"/>
                  </a:schemeClr>
                </a:solidFill>
              </a:rPr>
              <a:t>- RPOA can enhance CaaS by automating decisions related to container placement, scaling, and load balancing.</a:t>
            </a:r>
          </a:p>
          <a:p>
            <a:r>
              <a:rPr lang="en-US" sz="2000" dirty="0">
                <a:solidFill>
                  <a:schemeClr val="tx1">
                    <a:lumMod val="65000"/>
                    <a:lumOff val="35000"/>
                  </a:schemeClr>
                </a:solidFill>
              </a:rPr>
              <a:t>- Benefits include improved performance, cost reduction, and enhanced resource utilization.</a:t>
            </a:r>
            <a:endParaRPr lang="en-IN" sz="2000" dirty="0">
              <a:solidFill>
                <a:schemeClr val="tx1">
                  <a:lumMod val="65000"/>
                  <a:lumOff val="35000"/>
                </a:schemeClr>
              </a:solidFill>
            </a:endParaRPr>
          </a:p>
        </p:txBody>
      </p:sp>
    </p:spTree>
    <p:extLst>
      <p:ext uri="{BB962C8B-B14F-4D97-AF65-F5344CB8AC3E}">
        <p14:creationId xmlns:p14="http://schemas.microsoft.com/office/powerpoint/2010/main" val="4125765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5BCB3-F28E-56C9-2228-F056A2E9E090}"/>
              </a:ext>
            </a:extLst>
          </p:cNvPr>
          <p:cNvSpPr>
            <a:spLocks noGrp="1"/>
          </p:cNvSpPr>
          <p:nvPr>
            <p:ph type="title"/>
          </p:nvPr>
        </p:nvSpPr>
        <p:spPr/>
        <p:txBody>
          <a:bodyPr/>
          <a:lstStyle/>
          <a:p>
            <a:r>
              <a:rPr lang="en-IN" dirty="0"/>
              <a:t>Problem Formulation</a:t>
            </a:r>
          </a:p>
        </p:txBody>
      </p:sp>
      <p:sp>
        <p:nvSpPr>
          <p:cNvPr id="3" name="Text Placeholder 2">
            <a:extLst>
              <a:ext uri="{FF2B5EF4-FFF2-40B4-BE49-F238E27FC236}">
                <a16:creationId xmlns:a16="http://schemas.microsoft.com/office/drawing/2014/main" id="{411A9551-86D4-A48E-0CAE-E4BFD314F54C}"/>
              </a:ext>
            </a:extLst>
          </p:cNvPr>
          <p:cNvSpPr>
            <a:spLocks noGrp="1"/>
          </p:cNvSpPr>
          <p:nvPr>
            <p:ph type="body" idx="1"/>
          </p:nvPr>
        </p:nvSpPr>
        <p:spPr>
          <a:xfrm>
            <a:off x="968433" y="5308070"/>
            <a:ext cx="9134453" cy="576262"/>
          </a:xfrm>
        </p:spPr>
        <p:txBody>
          <a:bodyPr/>
          <a:lstStyle/>
          <a:p>
            <a:r>
              <a:rPr lang="en-US" sz="2000" dirty="0">
                <a:solidFill>
                  <a:schemeClr val="tx1">
                    <a:lumMod val="65000"/>
                    <a:lumOff val="35000"/>
                  </a:schemeClr>
                </a:solidFill>
              </a:rPr>
              <a:t>- Problem formulation in the context of optimizing a Container as a Service (CaaS) environment involves defining specific objectives, constraints, and variables that the Red Panda Optimization Algorithm (RPOA) will work with.</a:t>
            </a:r>
          </a:p>
          <a:p>
            <a:r>
              <a:rPr lang="en-US" sz="2000" dirty="0">
                <a:solidFill>
                  <a:schemeClr val="tx1">
                    <a:lumMod val="65000"/>
                    <a:lumOff val="35000"/>
                  </a:schemeClr>
                </a:solidFill>
              </a:rPr>
              <a:t>- Objectives may include optimizing resource allocation, minimizing costs, or improving system performance.</a:t>
            </a:r>
          </a:p>
          <a:p>
            <a:r>
              <a:rPr lang="en-US" sz="2000" dirty="0">
                <a:solidFill>
                  <a:schemeClr val="tx1">
                    <a:lumMod val="65000"/>
                    <a:lumOff val="35000"/>
                  </a:schemeClr>
                </a:solidFill>
              </a:rPr>
              <a:t>- Constraints could involve limitations on resource availability, network bandwidth, or any other relevant factors.</a:t>
            </a:r>
          </a:p>
          <a:p>
            <a:r>
              <a:rPr lang="en-US" sz="2000" dirty="0">
                <a:solidFill>
                  <a:schemeClr val="tx1">
                    <a:lumMod val="65000"/>
                    <a:lumOff val="35000"/>
                  </a:schemeClr>
                </a:solidFill>
              </a:rPr>
              <a:t>- Variables represent the parameters that RPOA can adjust, such as the number of containers, their placement, or scaling decisions.</a:t>
            </a:r>
            <a:endParaRPr lang="en-IN" sz="2000" dirty="0">
              <a:solidFill>
                <a:schemeClr val="tx1">
                  <a:lumMod val="65000"/>
                  <a:lumOff val="35000"/>
                </a:schemeClr>
              </a:solidFill>
            </a:endParaRPr>
          </a:p>
        </p:txBody>
      </p:sp>
    </p:spTree>
    <p:extLst>
      <p:ext uri="{BB962C8B-B14F-4D97-AF65-F5344CB8AC3E}">
        <p14:creationId xmlns:p14="http://schemas.microsoft.com/office/powerpoint/2010/main" val="872265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DF0E1-3999-55E8-C1A2-750F6AAF09DE}"/>
              </a:ext>
            </a:extLst>
          </p:cNvPr>
          <p:cNvSpPr>
            <a:spLocks noGrp="1"/>
          </p:cNvSpPr>
          <p:nvPr>
            <p:ph type="title"/>
          </p:nvPr>
        </p:nvSpPr>
        <p:spPr/>
        <p:txBody>
          <a:bodyPr/>
          <a:lstStyle/>
          <a:p>
            <a:r>
              <a:rPr lang="en-IN" dirty="0"/>
              <a:t>Implementing RPOA</a:t>
            </a:r>
          </a:p>
        </p:txBody>
      </p:sp>
      <p:sp>
        <p:nvSpPr>
          <p:cNvPr id="3" name="Text Placeholder 2">
            <a:extLst>
              <a:ext uri="{FF2B5EF4-FFF2-40B4-BE49-F238E27FC236}">
                <a16:creationId xmlns:a16="http://schemas.microsoft.com/office/drawing/2014/main" id="{CE3A9E02-551C-8C7E-A0C4-0AE01F43D239}"/>
              </a:ext>
            </a:extLst>
          </p:cNvPr>
          <p:cNvSpPr>
            <a:spLocks noGrp="1"/>
          </p:cNvSpPr>
          <p:nvPr>
            <p:ph type="body" idx="1"/>
          </p:nvPr>
        </p:nvSpPr>
        <p:spPr>
          <a:xfrm>
            <a:off x="856571" y="5710677"/>
            <a:ext cx="10039227" cy="576262"/>
          </a:xfrm>
        </p:spPr>
        <p:txBody>
          <a:bodyPr/>
          <a:lstStyle/>
          <a:p>
            <a:r>
              <a:rPr lang="en-US" sz="2000" dirty="0">
                <a:solidFill>
                  <a:schemeClr val="tx1">
                    <a:lumMod val="65000"/>
                    <a:lumOff val="35000"/>
                  </a:schemeClr>
                </a:solidFill>
              </a:rPr>
              <a:t>- Implementing RPOA within a CaaS environment involves several steps:   </a:t>
            </a:r>
          </a:p>
          <a:p>
            <a:pPr marL="457200" indent="-457200">
              <a:buAutoNum type="arabicPeriod"/>
            </a:pPr>
            <a:r>
              <a:rPr lang="en-US" sz="2000" b="1" dirty="0">
                <a:solidFill>
                  <a:schemeClr val="tx1">
                    <a:lumMod val="65000"/>
                    <a:lumOff val="35000"/>
                  </a:schemeClr>
                </a:solidFill>
              </a:rPr>
              <a:t>Problem Formulation</a:t>
            </a:r>
            <a:r>
              <a:rPr lang="en-US" sz="2000" dirty="0">
                <a:solidFill>
                  <a:schemeClr val="tx1">
                    <a:lumMod val="65000"/>
                    <a:lumOff val="35000"/>
                  </a:schemeClr>
                </a:solidFill>
              </a:rPr>
              <a:t>: Define the optimization problem, including objectives, constraints, and variables.   </a:t>
            </a:r>
          </a:p>
          <a:p>
            <a:pPr marL="457200" indent="-457200">
              <a:buAutoNum type="arabicPeriod"/>
            </a:pPr>
            <a:r>
              <a:rPr lang="en-US" sz="2000" b="1" dirty="0">
                <a:solidFill>
                  <a:schemeClr val="tx1">
                    <a:lumMod val="65000"/>
                    <a:lumOff val="35000"/>
                  </a:schemeClr>
                </a:solidFill>
              </a:rPr>
              <a:t>Fitness Function </a:t>
            </a:r>
            <a:r>
              <a:rPr lang="en-US" sz="2000" dirty="0">
                <a:solidFill>
                  <a:schemeClr val="tx1">
                    <a:lumMod val="65000"/>
                    <a:lumOff val="35000"/>
                  </a:schemeClr>
                </a:solidFill>
              </a:rPr>
              <a:t>: Develop a fitness function that quantifies how well a particular solution performs with respect to the defined objectives.</a:t>
            </a:r>
          </a:p>
          <a:p>
            <a:pPr marL="457200" indent="-457200">
              <a:buAutoNum type="arabicPeriod"/>
            </a:pPr>
            <a:r>
              <a:rPr lang="en-US" sz="2000" b="1" dirty="0">
                <a:solidFill>
                  <a:schemeClr val="tx1">
                    <a:lumMod val="65000"/>
                    <a:lumOff val="35000"/>
                  </a:schemeClr>
                </a:solidFill>
              </a:rPr>
              <a:t>Population Initialization</a:t>
            </a:r>
            <a:r>
              <a:rPr lang="en-US" sz="2000" dirty="0">
                <a:solidFill>
                  <a:schemeClr val="tx1">
                    <a:lumMod val="65000"/>
                    <a:lumOff val="35000"/>
                  </a:schemeClr>
                </a:solidFill>
              </a:rPr>
              <a:t>: Create an initial population of potential solutions, often represented as configurations of containers.</a:t>
            </a:r>
          </a:p>
          <a:p>
            <a:pPr marL="457200" indent="-457200">
              <a:buAutoNum type="arabicPeriod"/>
            </a:pPr>
            <a:r>
              <a:rPr lang="en-US" sz="2000" b="1" dirty="0">
                <a:solidFill>
                  <a:schemeClr val="tx1">
                    <a:lumMod val="65000"/>
                    <a:lumOff val="35000"/>
                  </a:schemeClr>
                </a:solidFill>
              </a:rPr>
              <a:t> Iteration</a:t>
            </a:r>
            <a:r>
              <a:rPr lang="en-US" sz="2000" dirty="0">
                <a:solidFill>
                  <a:schemeClr val="tx1">
                    <a:lumMod val="65000"/>
                    <a:lumOff val="35000"/>
                  </a:schemeClr>
                </a:solidFill>
              </a:rPr>
              <a:t>: RPOA iteratively refines solutions by applying operators inspired by red panda foraging behaviors. This process involves both exploration (searching for better solutions) and exploitation (exploiting promising solutions).</a:t>
            </a:r>
            <a:endParaRPr lang="en-IN" sz="2000" dirty="0">
              <a:solidFill>
                <a:schemeClr val="tx1">
                  <a:lumMod val="65000"/>
                  <a:lumOff val="35000"/>
                </a:schemeClr>
              </a:solidFill>
            </a:endParaRPr>
          </a:p>
        </p:txBody>
      </p:sp>
    </p:spTree>
    <p:extLst>
      <p:ext uri="{BB962C8B-B14F-4D97-AF65-F5344CB8AC3E}">
        <p14:creationId xmlns:p14="http://schemas.microsoft.com/office/powerpoint/2010/main" val="1792179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8E92A0-9EC1-193D-4F36-EA12087E6115}"/>
              </a:ext>
            </a:extLst>
          </p:cNvPr>
          <p:cNvPicPr>
            <a:picLocks noChangeAspect="1"/>
          </p:cNvPicPr>
          <p:nvPr/>
        </p:nvPicPr>
        <p:blipFill>
          <a:blip r:embed="rId2"/>
          <a:stretch>
            <a:fillRect/>
          </a:stretch>
        </p:blipFill>
        <p:spPr>
          <a:xfrm>
            <a:off x="1491101" y="337147"/>
            <a:ext cx="8692428" cy="5900788"/>
          </a:xfrm>
          <a:prstGeom prst="rect">
            <a:avLst/>
          </a:prstGeom>
        </p:spPr>
      </p:pic>
    </p:spTree>
    <p:extLst>
      <p:ext uri="{BB962C8B-B14F-4D97-AF65-F5344CB8AC3E}">
        <p14:creationId xmlns:p14="http://schemas.microsoft.com/office/powerpoint/2010/main" val="3451473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B69A07-4F5A-D93D-2328-C5AC6FA5FBE2}"/>
              </a:ext>
            </a:extLst>
          </p:cNvPr>
          <p:cNvPicPr>
            <a:picLocks noChangeAspect="1"/>
          </p:cNvPicPr>
          <p:nvPr/>
        </p:nvPicPr>
        <p:blipFill>
          <a:blip r:embed="rId2"/>
          <a:stretch>
            <a:fillRect/>
          </a:stretch>
        </p:blipFill>
        <p:spPr>
          <a:xfrm>
            <a:off x="107458" y="264008"/>
            <a:ext cx="7305269" cy="6156043"/>
          </a:xfrm>
          <a:prstGeom prst="rect">
            <a:avLst/>
          </a:prstGeom>
        </p:spPr>
      </p:pic>
      <p:pic>
        <p:nvPicPr>
          <p:cNvPr id="3" name="Content Placeholder 8">
            <a:extLst>
              <a:ext uri="{FF2B5EF4-FFF2-40B4-BE49-F238E27FC236}">
                <a16:creationId xmlns:a16="http://schemas.microsoft.com/office/drawing/2014/main" id="{DA040D37-132E-D848-E245-EA7917985D98}"/>
              </a:ext>
            </a:extLst>
          </p:cNvPr>
          <p:cNvPicPr>
            <a:picLocks noChangeAspect="1"/>
          </p:cNvPicPr>
          <p:nvPr/>
        </p:nvPicPr>
        <p:blipFill>
          <a:blip r:embed="rId3"/>
          <a:stretch>
            <a:fillRect/>
          </a:stretch>
        </p:blipFill>
        <p:spPr>
          <a:xfrm>
            <a:off x="7412727" y="3084056"/>
            <a:ext cx="4824412" cy="594183"/>
          </a:xfrm>
          <a:prstGeom prst="rect">
            <a:avLst/>
          </a:prstGeom>
        </p:spPr>
      </p:pic>
    </p:spTree>
    <p:extLst>
      <p:ext uri="{BB962C8B-B14F-4D97-AF65-F5344CB8AC3E}">
        <p14:creationId xmlns:p14="http://schemas.microsoft.com/office/powerpoint/2010/main" val="4071715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7E180-360B-6981-C662-09AE71394F21}"/>
              </a:ext>
            </a:extLst>
          </p:cNvPr>
          <p:cNvSpPr>
            <a:spLocks noGrp="1"/>
          </p:cNvSpPr>
          <p:nvPr>
            <p:ph type="title"/>
          </p:nvPr>
        </p:nvSpPr>
        <p:spPr/>
        <p:txBody>
          <a:bodyPr/>
          <a:lstStyle/>
          <a:p>
            <a:r>
              <a:rPr lang="en-IN" dirty="0"/>
              <a:t>Case Studies </a:t>
            </a:r>
          </a:p>
        </p:txBody>
      </p:sp>
      <p:sp>
        <p:nvSpPr>
          <p:cNvPr id="3" name="Text Placeholder 2">
            <a:extLst>
              <a:ext uri="{FF2B5EF4-FFF2-40B4-BE49-F238E27FC236}">
                <a16:creationId xmlns:a16="http://schemas.microsoft.com/office/drawing/2014/main" id="{F1A44FDF-B844-9ED1-65E7-8C32D0DD8321}"/>
              </a:ext>
            </a:extLst>
          </p:cNvPr>
          <p:cNvSpPr>
            <a:spLocks noGrp="1"/>
          </p:cNvSpPr>
          <p:nvPr>
            <p:ph type="body" idx="1"/>
          </p:nvPr>
        </p:nvSpPr>
        <p:spPr>
          <a:xfrm>
            <a:off x="1154954" y="5183070"/>
            <a:ext cx="9201829" cy="576262"/>
          </a:xfrm>
        </p:spPr>
        <p:txBody>
          <a:bodyPr/>
          <a:lstStyle/>
          <a:p>
            <a:r>
              <a:rPr lang="en-US" sz="2000" b="1" dirty="0">
                <a:solidFill>
                  <a:schemeClr val="tx1">
                    <a:lumMod val="65000"/>
                    <a:lumOff val="35000"/>
                  </a:schemeClr>
                </a:solidFill>
              </a:rPr>
              <a:t>Load Balancing for E-commerce:</a:t>
            </a:r>
          </a:p>
          <a:p>
            <a:r>
              <a:rPr lang="en-US" sz="2000" b="1" dirty="0">
                <a:solidFill>
                  <a:schemeClr val="tx1">
                    <a:lumMod val="65000"/>
                    <a:lumOff val="35000"/>
                  </a:schemeClr>
                </a:solidFill>
              </a:rPr>
              <a:t>- Company: E-commerce Giant- Problem: </a:t>
            </a:r>
            <a:r>
              <a:rPr lang="en-US" sz="2000" dirty="0">
                <a:solidFill>
                  <a:schemeClr val="tx1">
                    <a:lumMod val="65000"/>
                    <a:lumOff val="35000"/>
                  </a:schemeClr>
                </a:solidFill>
              </a:rPr>
              <a:t>An e-commerce giant needed to balance traffic across its containerized microservices to handle high user loads efficiently.</a:t>
            </a:r>
          </a:p>
          <a:p>
            <a:r>
              <a:rPr lang="en-US" sz="2000" b="1" dirty="0">
                <a:solidFill>
                  <a:schemeClr val="tx1">
                    <a:lumMod val="65000"/>
                    <a:lumOff val="35000"/>
                  </a:schemeClr>
                </a:solidFill>
              </a:rPr>
              <a:t>- Solution: </a:t>
            </a:r>
            <a:r>
              <a:rPr lang="en-US" sz="2000" dirty="0">
                <a:solidFill>
                  <a:schemeClr val="tx1">
                    <a:lumMod val="65000"/>
                    <a:lumOff val="35000"/>
                  </a:schemeClr>
                </a:solidFill>
              </a:rPr>
              <a:t>RPOA was used to optimize the placement and scaling of containers, dynamically redistributing traffic.</a:t>
            </a:r>
          </a:p>
          <a:p>
            <a:r>
              <a:rPr lang="en-US" sz="2000" b="1" dirty="0">
                <a:solidFill>
                  <a:schemeClr val="tx1">
                    <a:lumMod val="65000"/>
                    <a:lumOff val="35000"/>
                  </a:schemeClr>
                </a:solidFill>
              </a:rPr>
              <a:t>- Outcomes: </a:t>
            </a:r>
            <a:r>
              <a:rPr lang="en-US" sz="2000" dirty="0">
                <a:solidFill>
                  <a:schemeClr val="tx1">
                    <a:lumMod val="65000"/>
                    <a:lumOff val="35000"/>
                  </a:schemeClr>
                </a:solidFill>
              </a:rPr>
              <a:t>The load balancing improvements reduced response times by 20% during peak shopping seasons, leading to increased customer satisfaction and sales.</a:t>
            </a:r>
            <a:endParaRPr lang="en-IN" sz="2000" dirty="0">
              <a:solidFill>
                <a:schemeClr val="tx1">
                  <a:lumMod val="65000"/>
                  <a:lumOff val="35000"/>
                </a:schemeClr>
              </a:solidFill>
            </a:endParaRPr>
          </a:p>
        </p:txBody>
      </p:sp>
    </p:spTree>
    <p:extLst>
      <p:ext uri="{BB962C8B-B14F-4D97-AF65-F5344CB8AC3E}">
        <p14:creationId xmlns:p14="http://schemas.microsoft.com/office/powerpoint/2010/main" val="121403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7E180-360B-6981-C662-09AE71394F21}"/>
              </a:ext>
            </a:extLst>
          </p:cNvPr>
          <p:cNvSpPr>
            <a:spLocks noGrp="1"/>
          </p:cNvSpPr>
          <p:nvPr>
            <p:ph type="title"/>
          </p:nvPr>
        </p:nvSpPr>
        <p:spPr/>
        <p:txBody>
          <a:bodyPr/>
          <a:lstStyle/>
          <a:p>
            <a:r>
              <a:rPr lang="en-IN" dirty="0"/>
              <a:t>Future Directions:</a:t>
            </a:r>
          </a:p>
        </p:txBody>
      </p:sp>
      <p:sp>
        <p:nvSpPr>
          <p:cNvPr id="3" name="Text Placeholder 2">
            <a:extLst>
              <a:ext uri="{FF2B5EF4-FFF2-40B4-BE49-F238E27FC236}">
                <a16:creationId xmlns:a16="http://schemas.microsoft.com/office/drawing/2014/main" id="{F1A44FDF-B844-9ED1-65E7-8C32D0DD8321}"/>
              </a:ext>
            </a:extLst>
          </p:cNvPr>
          <p:cNvSpPr>
            <a:spLocks noGrp="1"/>
          </p:cNvSpPr>
          <p:nvPr>
            <p:ph type="body" idx="1"/>
          </p:nvPr>
        </p:nvSpPr>
        <p:spPr>
          <a:xfrm>
            <a:off x="934745" y="5412431"/>
            <a:ext cx="9201829" cy="576262"/>
          </a:xfrm>
        </p:spPr>
        <p:txBody>
          <a:bodyPr/>
          <a:lstStyle/>
          <a:p>
            <a:r>
              <a:rPr lang="en-US" sz="2000" dirty="0">
                <a:solidFill>
                  <a:schemeClr val="tx1">
                    <a:lumMod val="65000"/>
                    <a:lumOff val="35000"/>
                  </a:schemeClr>
                </a:solidFill>
              </a:rPr>
              <a:t>- As technology and cloud computing continue to evolve, several future directions and trends are emerging in the integration of the Red Panda Optimization Algorithm (RPOA) with Container as a Service (CaaS) environments</a:t>
            </a:r>
          </a:p>
          <a:p>
            <a:r>
              <a:rPr lang="en-US" sz="2000" b="1" dirty="0">
                <a:solidFill>
                  <a:schemeClr val="tx1">
                    <a:lumMod val="65000"/>
                    <a:lumOff val="35000"/>
                  </a:schemeClr>
                </a:solidFill>
              </a:rPr>
              <a:t>Industry-Specific Applications- </a:t>
            </a:r>
            <a:r>
              <a:rPr lang="en-US" sz="2000" dirty="0">
                <a:solidFill>
                  <a:schemeClr val="tx1">
                    <a:lumMod val="65000"/>
                    <a:lumOff val="35000"/>
                  </a:schemeClr>
                </a:solidFill>
              </a:rPr>
              <a:t>Expect to see industry-specific applications of RPOA in healthcare, finance, logistics, and more, addressing unique optimization challenges in various domains.</a:t>
            </a:r>
          </a:p>
          <a:p>
            <a:r>
              <a:rPr lang="en-US" sz="2000" b="1" dirty="0">
                <a:solidFill>
                  <a:schemeClr val="tx1">
                    <a:lumMod val="65000"/>
                    <a:lumOff val="35000"/>
                  </a:schemeClr>
                </a:solidFill>
              </a:rPr>
              <a:t>Community and Research Advancements- </a:t>
            </a:r>
            <a:r>
              <a:rPr lang="en-US" sz="2000" dirty="0">
                <a:solidFill>
                  <a:schemeClr val="tx1">
                    <a:lumMod val="65000"/>
                    <a:lumOff val="35000"/>
                  </a:schemeClr>
                </a:solidFill>
              </a:rPr>
              <a:t>The research community will continue to refine RPOA, developing new variants and best practices for container optimization.- Collaboration and knowledge sharing will lead to further advancements.</a:t>
            </a:r>
            <a:endParaRPr lang="en-IN" sz="2000" dirty="0">
              <a:solidFill>
                <a:schemeClr val="tx1">
                  <a:lumMod val="65000"/>
                  <a:lumOff val="35000"/>
                </a:schemeClr>
              </a:solidFill>
            </a:endParaRPr>
          </a:p>
        </p:txBody>
      </p:sp>
    </p:spTree>
    <p:extLst>
      <p:ext uri="{BB962C8B-B14F-4D97-AF65-F5344CB8AC3E}">
        <p14:creationId xmlns:p14="http://schemas.microsoft.com/office/powerpoint/2010/main" val="3239483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359" y="2721826"/>
            <a:ext cx="10515600" cy="1325563"/>
          </a:xfrm>
        </p:spPr>
        <p:txBody>
          <a:bodyPr/>
          <a:lstStyle/>
          <a:p>
            <a:pPr algn="ctr"/>
            <a:r>
              <a:rPr lang="en-US" dirty="0">
                <a:solidFill>
                  <a:schemeClr val="tx1"/>
                </a:solidFill>
              </a:rPr>
              <a:t>THANK YOU!</a:t>
            </a:r>
          </a:p>
        </p:txBody>
      </p:sp>
    </p:spTree>
    <p:extLst>
      <p:ext uri="{BB962C8B-B14F-4D97-AF65-F5344CB8AC3E}">
        <p14:creationId xmlns:p14="http://schemas.microsoft.com/office/powerpoint/2010/main" val="37408419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402</TotalTime>
  <Words>1107</Words>
  <Application>Microsoft Office PowerPoint</Application>
  <PresentationFormat>Widescreen</PresentationFormat>
  <Paragraphs>90</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Century Gothic</vt:lpstr>
      <vt:lpstr>Monotype Sorts</vt:lpstr>
      <vt:lpstr>Times New Roman</vt:lpstr>
      <vt:lpstr>Wingdings</vt:lpstr>
      <vt:lpstr>Wingdings 3</vt:lpstr>
      <vt:lpstr>Ion Boardroom</vt:lpstr>
      <vt:lpstr>CONTAINER AS A SERVICE IN CLOUD: AN APPROACH TO SECURE HYBRID VIRTUALIZATION</vt:lpstr>
      <vt:lpstr>ABSTRACT</vt:lpstr>
      <vt:lpstr>WHAT IS CLOUD COMPUTING?</vt:lpstr>
      <vt:lpstr>     CLOUD DEPLOYMENT MODEL                                                  CLOUD SERVICE MODEL</vt:lpstr>
      <vt:lpstr>VIRTUALIZATION IN CLOUD COMPUTING</vt:lpstr>
      <vt:lpstr>TYPES OF VIRTUALIZATION</vt:lpstr>
      <vt:lpstr>ARCHITECTURE OF CONTAINER VS VIRTUAL MACHINE</vt:lpstr>
      <vt:lpstr>CONTAINER AS A SERVICE(CaaS)</vt:lpstr>
      <vt:lpstr>Advantages and Disadvantages of CaaS</vt:lpstr>
      <vt:lpstr>Red Panda Optimization Algorithm in Container as a Service in Cloud:</vt:lpstr>
      <vt:lpstr>Integration of RPOA in CaaS</vt:lpstr>
      <vt:lpstr>Problem Formulation</vt:lpstr>
      <vt:lpstr>Implementing RPOA</vt:lpstr>
      <vt:lpstr>PowerPoint Presentation</vt:lpstr>
      <vt:lpstr>PowerPoint Presentation</vt:lpstr>
      <vt:lpstr>Case Studies </vt:lpstr>
      <vt:lpstr>Future Directions: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 as a Service in Cloud: An Approach to Secure Hybrid Virtualization</dc:title>
  <dc:creator>akshitha boda</dc:creator>
  <cp:lastModifiedBy>M Sreelakshmi</cp:lastModifiedBy>
  <cp:revision>12</cp:revision>
  <dcterms:created xsi:type="dcterms:W3CDTF">2023-08-31T14:53:43Z</dcterms:created>
  <dcterms:modified xsi:type="dcterms:W3CDTF">2023-10-27T03:35:04Z</dcterms:modified>
</cp:coreProperties>
</file>